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15.xml" ContentType="application/vnd.openxmlformats-officedocument.presentationml.tag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99" r:id="rId4"/>
    <p:sldMasterId id="2147484331" r:id="rId5"/>
  </p:sldMasterIdLst>
  <p:notesMasterIdLst>
    <p:notesMasterId r:id="rId7"/>
  </p:notesMasterIdLst>
  <p:handoutMasterIdLst>
    <p:handoutMasterId r:id="rId8"/>
  </p:handoutMasterIdLst>
  <p:sldIdLst>
    <p:sldId id="2050095854" r:id="rId6"/>
  </p:sldIdLst>
  <p:sldSz cx="12192000" cy="6858000"/>
  <p:notesSz cx="7315200" cy="9601200"/>
  <p:custDataLst>
    <p:tags r:id="rId9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08B680C-A413-D629-1F23-B4F28168790E}" name="Blandin, Médéric" initials="" userId="S::mederic.blandin@accenture.com::c435f95f-5460-4584-a8dd-8da62dbe85f7" providerId="AD"/>
  <p188:author id="{5A412D2C-D99C-2E34-F4C2-00F40929EC0B}" name="Riaux, Carole" initials="RC" userId="S::carole.riaux@accenture.com::b7810a9f-5ad9-4a79-8c01-55fa66828f39" providerId="AD"/>
  <p188:author id="{21DC7D2F-C212-3FE2-5ADC-66F507C77132}" name="Joksic, Nicolas" initials="JN" userId="S::nicolas.joksic@accenture.com::a8f9005c-b35d-44c4-9cb6-6ffa8daa2472" providerId="AD"/>
  <p188:author id="{028E7C37-92D8-4A5B-38CD-DA7C8DD22F0F}" name="Romain LOYER" initials="RL" userId="S::romain.loyer@optimind.com::9e002b37-f820-4c1d-804b-70a62a05d9f7" providerId="AD"/>
  <p188:author id="{97E2294D-0FBC-7FB2-0897-EAE17ED819D6}" name="Gwladys KANGAH" initials="GK" userId="S::gwladys.kangah@optimind.com::0ac8f537-dc0a-41f6-bf48-75f3e3f0dea3" providerId="AD"/>
  <p188:author id="{932E187D-9449-2C7B-EBB6-EE718006FCF6}" name="Sebaoun, Nicolas" initials="SN" userId="S::nicolas.sebaoun@accenture.com::251701b3-2cc7-4284-878e-d476bff49218" providerId="AD"/>
  <p188:author id="{F52FE797-5AFF-F3C2-05E4-97F05D4F9F5B}" name="Estager, Marie" initials="EM" userId="S::marie.estager@accenture.com::9b871139-170d-4cff-95eb-7fc6db7414ca" providerId="AD"/>
  <p188:author id="{10718A98-9873-2433-3925-088700689451}" name="Maherault, Julie" initials="MJ" userId="S::julie.maherault@accenture.com::53b4c125-5496-41c7-8865-74c93e21cbb4" providerId="AD"/>
  <p188:author id="{214F109A-D9F8-E31C-ABB7-075074F59AA9}" name="Grelier, Jerome" initials="GJ" userId="S::jerome.grelier@accenture.com::425a68a5-6516-4997-9954-e508d991fc2d" providerId="AD"/>
  <p188:author id="{163C84A1-76CB-672E-A969-953DBF517C82}" name="Jordane GHAZANI" initials="JG" userId="S::jordane.ghazani@optimind.com::b3c548d3-2e47-47c1-b1a2-e0b218b1dddf" providerId="AD"/>
  <p188:author id="{CC5EA1AB-688A-E92E-76D8-FE81F1B2C1F5}" name="Sébastien MESLET" initials="SM" userId="S::sebastien.meslet@optimind.com::da1e2c51-725c-4b98-a224-c83fa7238723" providerId="AD"/>
  <p188:author id="{1F20A7C2-3F7D-B9C2-507A-73F33BDF8820}" name="Alain LE CORRE" initials="AL" userId="S::alain.lecorre@optimind.com::b0124495-d54b-4e3c-a7df-6cf7599776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82FF"/>
    <a:srgbClr val="B455AA"/>
    <a:srgbClr val="7500C0"/>
    <a:srgbClr val="A100FF"/>
    <a:srgbClr val="DCAFFF"/>
    <a:srgbClr val="FFFFFF"/>
    <a:srgbClr val="C984FF"/>
    <a:srgbClr val="E6E6E6"/>
    <a:srgbClr val="A6A6A6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7D3703-7D21-883E-1E65-B4CF1E9B89DF}" v="60" dt="2026-03-25T14:16:10.2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tags" Target="tags/tag1.xml"/><Relationship Id="rId1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24BAAC-C4A1-4F37-A9B3-246B5CEB5ECA}" type="datetimeFigureOut">
              <a:rPr lang="fr-FR" smtClean="0"/>
              <a:t>14/04/2026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5A2AA9-5394-4402-B1A4-DE99E85D2D4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67873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50248AA4-9C94-4006-8F93-8360E7C8DD53}" type="datetimeFigureOut">
              <a:rPr lang="fr-FR" smtClean="0"/>
              <a:t>14/04/2026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28F9E36B-04AF-490C-BE83-F2BA34BB911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172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oleObject" Target="../embeddings/oleObject3.bin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oleObject" Target="../embeddings/oleObject3.bin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oleObject" Target="../embeddings/oleObject3.bin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oleObject" Target="../embeddings/oleObject3.bin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oleObject" Target="../embeddings/oleObject3.bin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oleObject" Target="../embeddings/oleObject3.bin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oleObject" Target="../embeddings/oleObject3.bin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oleObject" Target="../embeddings/oleObject3.bin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oleObject" Target="../embeddings/oleObject3.bin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oleObject" Target="../embeddings/oleObject3.bin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B9D1B-0E41-F82C-E3FA-B847D6EEA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72457D-D051-58F4-72D2-2B68D65D61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57764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AB4BC4BF-5960-4EEA-A3F1-5837F24D238F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12" name="Rechteck 9">
            <a:extLst>
              <a:ext uri="{FF2B5EF4-FFF2-40B4-BE49-F238E27FC236}">
                <a16:creationId xmlns:a16="http://schemas.microsoft.com/office/drawing/2014/main" id="{63D09389-048B-4EA1-89D9-AEE8AE1C4625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4B6BF-F976-407A-B724-BF43FD1368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</a:p>
        </p:txBody>
      </p:sp>
      <p:sp>
        <p:nvSpPr>
          <p:cNvPr id="44" name="Text Placeholder 131">
            <a:extLst>
              <a:ext uri="{FF2B5EF4-FFF2-40B4-BE49-F238E27FC236}">
                <a16:creationId xmlns:a16="http://schemas.microsoft.com/office/drawing/2014/main" id="{CF439A69-077F-458A-9472-FBA1545CCF9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XXXX</a:t>
            </a:r>
            <a:endParaRPr lang="en-GB"/>
          </a:p>
          <a:p>
            <a:endParaRPr lang="en-US"/>
          </a:p>
        </p:txBody>
      </p:sp>
      <p:sp>
        <p:nvSpPr>
          <p:cNvPr id="51" name="Text Placeholder 131">
            <a:extLst>
              <a:ext uri="{FF2B5EF4-FFF2-40B4-BE49-F238E27FC236}">
                <a16:creationId xmlns:a16="http://schemas.microsoft.com/office/drawing/2014/main" id="{565F6716-8CE9-4754-BCC4-4E803C7B1CA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/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596EBC3-6BDE-417B-9D3A-2703945C4430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3" name="Rectangle: Rounded Corners 98">
              <a:extLst>
                <a:ext uri="{FF2B5EF4-FFF2-40B4-BE49-F238E27FC236}">
                  <a16:creationId xmlns:a16="http://schemas.microsoft.com/office/drawing/2014/main" id="{CBBFEC3D-F23C-42F0-99DB-089E8DD98BC3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SIGNIFICANT EXPERIENCES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6559F58-2054-4E9D-A75F-8692A26C523B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37" name="trophy win award best prize reward recognition top performer star">
              <a:extLst>
                <a:ext uri="{FF2B5EF4-FFF2-40B4-BE49-F238E27FC236}">
                  <a16:creationId xmlns:a16="http://schemas.microsoft.com/office/drawing/2014/main" id="{6412261F-134D-49C3-9A5F-5B6C51592BA8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38" name="Freeform 75">
                <a:extLst>
                  <a:ext uri="{FF2B5EF4-FFF2-40B4-BE49-F238E27FC236}">
                    <a16:creationId xmlns:a16="http://schemas.microsoft.com/office/drawing/2014/main" id="{D4B7B4C9-204F-4C10-B84A-A73308FAFC1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39" name="Freeform 76">
                <a:extLst>
                  <a:ext uri="{FF2B5EF4-FFF2-40B4-BE49-F238E27FC236}">
                    <a16:creationId xmlns:a16="http://schemas.microsoft.com/office/drawing/2014/main" id="{64AE8827-B49A-41BE-9C02-4A46058892A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0" name="Freeform 77">
                <a:extLst>
                  <a:ext uri="{FF2B5EF4-FFF2-40B4-BE49-F238E27FC236}">
                    <a16:creationId xmlns:a16="http://schemas.microsoft.com/office/drawing/2014/main" id="{6CC663FC-2175-4EB3-8B47-65F3A9DCF36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1" name="Freeform 78">
                <a:extLst>
                  <a:ext uri="{FF2B5EF4-FFF2-40B4-BE49-F238E27FC236}">
                    <a16:creationId xmlns:a16="http://schemas.microsoft.com/office/drawing/2014/main" id="{0C8B8A47-96D3-4108-B1FE-A92BB7C65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2" name="Freeform 79">
                <a:extLst>
                  <a:ext uri="{FF2B5EF4-FFF2-40B4-BE49-F238E27FC236}">
                    <a16:creationId xmlns:a16="http://schemas.microsoft.com/office/drawing/2014/main" id="{72EF509C-7570-4F0E-AF18-D7E973BC2C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8" name="Group 101">
            <a:extLst>
              <a:ext uri="{FF2B5EF4-FFF2-40B4-BE49-F238E27FC236}">
                <a16:creationId xmlns:a16="http://schemas.microsoft.com/office/drawing/2014/main" id="{9A4CB9D6-D558-4329-A3A2-049089623931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69" name="Graphic 102">
              <a:extLst>
                <a:ext uri="{FF2B5EF4-FFF2-40B4-BE49-F238E27FC236}">
                  <a16:creationId xmlns:a16="http://schemas.microsoft.com/office/drawing/2014/main" id="{A2D8835B-45CF-4A2B-8DA9-EC5B63E83A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70" name="Graphic 103">
              <a:extLst>
                <a:ext uri="{FF2B5EF4-FFF2-40B4-BE49-F238E27FC236}">
                  <a16:creationId xmlns:a16="http://schemas.microsoft.com/office/drawing/2014/main" id="{F65368AD-4461-4E83-9A1B-CD51D32680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71" name="Rectangle: Rounded Corners 10">
            <a:extLst>
              <a:ext uri="{FF2B5EF4-FFF2-40B4-BE49-F238E27FC236}">
                <a16:creationId xmlns:a16="http://schemas.microsoft.com/office/drawing/2014/main" id="{41E5B7EE-A75D-493D-AB76-434D66BB6747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</a:t>
            </a:r>
            <a:r>
              <a:rPr lang="en-US" sz="1100" b="1" cap="all">
                <a:solidFill>
                  <a:srgbClr val="7500C0"/>
                </a:solidFill>
                <a:latin typeface="Graphik" panose="020B0503030202060203" pitchFamily="34" charset="0"/>
              </a:rPr>
              <a:t>Professional and academic background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1" name="Rectangle: Rounded Corners 10">
            <a:extLst>
              <a:ext uri="{FF2B5EF4-FFF2-40B4-BE49-F238E27FC236}">
                <a16:creationId xmlns:a16="http://schemas.microsoft.com/office/drawing/2014/main" id="{EDCB3B12-D62F-42E1-88AC-56FF1042E3CC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SKILLS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47FEDD9-553E-4955-9149-6E9344E9E3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33" name="Rectangle: Rounded Corners 10">
            <a:extLst>
              <a:ext uri="{FF2B5EF4-FFF2-40B4-BE49-F238E27FC236}">
                <a16:creationId xmlns:a16="http://schemas.microsoft.com/office/drawing/2014/main" id="{7D54ABB5-A3FE-4237-A161-52154AA3CCD9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5" name="Text Placeholder 131">
            <a:extLst>
              <a:ext uri="{FF2B5EF4-FFF2-40B4-BE49-F238E27FC236}">
                <a16:creationId xmlns:a16="http://schemas.microsoft.com/office/drawing/2014/main" id="{7D4DA43C-5EC7-43C8-9820-DD3BA62967A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2" name="Text Placeholder 131">
            <a:extLst>
              <a:ext uri="{FF2B5EF4-FFF2-40B4-BE49-F238E27FC236}">
                <a16:creationId xmlns:a16="http://schemas.microsoft.com/office/drawing/2014/main" id="{097ED99D-BC02-4487-94BD-0E440E52C28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FA1FEB5-4C05-4A40-A583-7329D7C4E4C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045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Rectangle: Diagonal Corners Rounded 56">
            <a:extLst>
              <a:ext uri="{FF2B5EF4-FFF2-40B4-BE49-F238E27FC236}">
                <a16:creationId xmlns:a16="http://schemas.microsoft.com/office/drawing/2014/main" id="{7765C9F2-C31D-4312-8AC6-8F646D882133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58" name="Rechteck 9">
            <a:extLst>
              <a:ext uri="{FF2B5EF4-FFF2-40B4-BE49-F238E27FC236}">
                <a16:creationId xmlns:a16="http://schemas.microsoft.com/office/drawing/2014/main" id="{E20DDD5B-5D0F-4068-8427-767F68BBFF04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sp>
        <p:nvSpPr>
          <p:cNvPr id="59" name="Text Placeholder 9">
            <a:extLst>
              <a:ext uri="{FF2B5EF4-FFF2-40B4-BE49-F238E27FC236}">
                <a16:creationId xmlns:a16="http://schemas.microsoft.com/office/drawing/2014/main" id="{82FC41C2-A308-445D-B715-8DB7BDBFBB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Prénom  nom</a:t>
            </a:r>
          </a:p>
        </p:txBody>
      </p:sp>
      <p:sp>
        <p:nvSpPr>
          <p:cNvPr id="60" name="Text Placeholder 131">
            <a:extLst>
              <a:ext uri="{FF2B5EF4-FFF2-40B4-BE49-F238E27FC236}">
                <a16:creationId xmlns:a16="http://schemas.microsoft.com/office/drawing/2014/main" id="{76F4FEFD-C1F9-4798-A034-8C14D63D14C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</a:t>
            </a:r>
            <a:endParaRPr lang="en-GB"/>
          </a:p>
          <a:p>
            <a:endParaRPr lang="en-US"/>
          </a:p>
        </p:txBody>
      </p:sp>
      <p:sp>
        <p:nvSpPr>
          <p:cNvPr id="61" name="Text Placeholder 131">
            <a:extLst>
              <a:ext uri="{FF2B5EF4-FFF2-40B4-BE49-F238E27FC236}">
                <a16:creationId xmlns:a16="http://schemas.microsoft.com/office/drawing/2014/main" id="{BC080545-AEB9-4F86-8398-811B30C5DE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>
                <a:solidFill>
                  <a:schemeClr val="tx1"/>
                </a:solidFill>
              </a:defRPr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</a:t>
            </a: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principales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 principales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3E51176-9D52-44A0-9889-3A59D253018E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4" name="Rectangle: Rounded Corners 98">
              <a:extLst>
                <a:ext uri="{FF2B5EF4-FFF2-40B4-BE49-F238E27FC236}">
                  <a16:creationId xmlns:a16="http://schemas.microsoft.com/office/drawing/2014/main" id="{3DC0D7D1-1EC6-44B1-A838-6B332020B5A0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EXPéRIENCES SIGNIFICATIVES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601A531-BE0D-4A47-964F-AB4D15ECD3D7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68" name="trophy win award best prize reward recognition top performer star">
              <a:extLst>
                <a:ext uri="{FF2B5EF4-FFF2-40B4-BE49-F238E27FC236}">
                  <a16:creationId xmlns:a16="http://schemas.microsoft.com/office/drawing/2014/main" id="{2476699F-7FD2-43D7-92C2-3976B9CCC33A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69" name="Freeform 75">
                <a:extLst>
                  <a:ext uri="{FF2B5EF4-FFF2-40B4-BE49-F238E27FC236}">
                    <a16:creationId xmlns:a16="http://schemas.microsoft.com/office/drawing/2014/main" id="{1530B87D-77B9-4CE1-99B3-257BB3FF941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0" name="Freeform 76">
                <a:extLst>
                  <a:ext uri="{FF2B5EF4-FFF2-40B4-BE49-F238E27FC236}">
                    <a16:creationId xmlns:a16="http://schemas.microsoft.com/office/drawing/2014/main" id="{0301ABAD-9225-408E-82DF-24182EC919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1" name="Freeform 77">
                <a:extLst>
                  <a:ext uri="{FF2B5EF4-FFF2-40B4-BE49-F238E27FC236}">
                    <a16:creationId xmlns:a16="http://schemas.microsoft.com/office/drawing/2014/main" id="{E4579AF6-A0F9-4167-89DE-116F3F242A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88" name="Freeform 78">
                <a:extLst>
                  <a:ext uri="{FF2B5EF4-FFF2-40B4-BE49-F238E27FC236}">
                    <a16:creationId xmlns:a16="http://schemas.microsoft.com/office/drawing/2014/main" id="{D418FA72-AB87-46D0-9E89-F28847543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00" name="Freeform 79">
                <a:extLst>
                  <a:ext uri="{FF2B5EF4-FFF2-40B4-BE49-F238E27FC236}">
                    <a16:creationId xmlns:a16="http://schemas.microsoft.com/office/drawing/2014/main" id="{1E28F628-2379-409C-8684-FA1728A8B4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1" name="Group 101">
            <a:extLst>
              <a:ext uri="{FF2B5EF4-FFF2-40B4-BE49-F238E27FC236}">
                <a16:creationId xmlns:a16="http://schemas.microsoft.com/office/drawing/2014/main" id="{DFA93745-192C-4540-9787-AE8F361061A3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102" name="Graphic 102">
              <a:extLst>
                <a:ext uri="{FF2B5EF4-FFF2-40B4-BE49-F238E27FC236}">
                  <a16:creationId xmlns:a16="http://schemas.microsoft.com/office/drawing/2014/main" id="{7B821BD6-B088-4171-A842-028D60945A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103" name="Graphic 103">
              <a:extLst>
                <a:ext uri="{FF2B5EF4-FFF2-40B4-BE49-F238E27FC236}">
                  <a16:creationId xmlns:a16="http://schemas.microsoft.com/office/drawing/2014/main" id="{83238B4C-6AAE-47E6-93F8-C1BAC9D54B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104" name="Rectangle: Rounded Corners 10">
            <a:extLst>
              <a:ext uri="{FF2B5EF4-FFF2-40B4-BE49-F238E27FC236}">
                <a16:creationId xmlns:a16="http://schemas.microsoft.com/office/drawing/2014/main" id="{C8346483-7DEA-40C6-844D-EEB55AF8AA1C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PARCOURS PROFESSIONNEL ET ACADÉMIQUE</a:t>
            </a:r>
          </a:p>
        </p:txBody>
      </p:sp>
      <p:sp>
        <p:nvSpPr>
          <p:cNvPr id="105" name="Rectangle: Rounded Corners 10">
            <a:extLst>
              <a:ext uri="{FF2B5EF4-FFF2-40B4-BE49-F238E27FC236}">
                <a16:creationId xmlns:a16="http://schemas.microsoft.com/office/drawing/2014/main" id="{074314DF-E8DE-4257-BB1B-7C50A7FC642B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COMPÉTENCES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6" name="Text Placeholder 9">
            <a:extLst>
              <a:ext uri="{FF2B5EF4-FFF2-40B4-BE49-F238E27FC236}">
                <a16:creationId xmlns:a16="http://schemas.microsoft.com/office/drawing/2014/main" id="{99C5DC95-2DAC-40D9-BCEA-98D2D3E0BE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Rôle</a:t>
            </a:r>
            <a:endParaRPr lang="en-US"/>
          </a:p>
        </p:txBody>
      </p:sp>
      <p:sp>
        <p:nvSpPr>
          <p:cNvPr id="107" name="Rectangle: Rounded Corners 10">
            <a:extLst>
              <a:ext uri="{FF2B5EF4-FFF2-40B4-BE49-F238E27FC236}">
                <a16:creationId xmlns:a16="http://schemas.microsoft.com/office/drawing/2014/main" id="{9A58CF05-3C25-4E49-8BB9-13CB0BAA426E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9" name="Text Placeholder 131">
            <a:extLst>
              <a:ext uri="{FF2B5EF4-FFF2-40B4-BE49-F238E27FC236}">
                <a16:creationId xmlns:a16="http://schemas.microsoft.com/office/drawing/2014/main" id="{8457750B-1B67-4E6F-91F8-E835B830C01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A2EA68B-9BB2-4DDD-BEEF-4E437C63F146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7" name="Text Placeholder 131">
            <a:extLst>
              <a:ext uri="{FF2B5EF4-FFF2-40B4-BE49-F238E27FC236}">
                <a16:creationId xmlns:a16="http://schemas.microsoft.com/office/drawing/2014/main" id="{A26A33F3-D88F-48BE-B4E7-4DFBFB77AD3F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94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AB4BC4BF-5960-4EEA-A3F1-5837F24D238F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12" name="Rechteck 9">
            <a:extLst>
              <a:ext uri="{FF2B5EF4-FFF2-40B4-BE49-F238E27FC236}">
                <a16:creationId xmlns:a16="http://schemas.microsoft.com/office/drawing/2014/main" id="{63D09389-048B-4EA1-89D9-AEE8AE1C4625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4B6BF-F976-407A-B724-BF43FD1368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</a:p>
        </p:txBody>
      </p:sp>
      <p:sp>
        <p:nvSpPr>
          <p:cNvPr id="44" name="Text Placeholder 131">
            <a:extLst>
              <a:ext uri="{FF2B5EF4-FFF2-40B4-BE49-F238E27FC236}">
                <a16:creationId xmlns:a16="http://schemas.microsoft.com/office/drawing/2014/main" id="{CF439A69-077F-458A-9472-FBA1545CCF9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XXXX</a:t>
            </a:r>
            <a:endParaRPr lang="en-GB"/>
          </a:p>
          <a:p>
            <a:endParaRPr lang="en-US"/>
          </a:p>
        </p:txBody>
      </p:sp>
      <p:sp>
        <p:nvSpPr>
          <p:cNvPr id="51" name="Text Placeholder 131">
            <a:extLst>
              <a:ext uri="{FF2B5EF4-FFF2-40B4-BE49-F238E27FC236}">
                <a16:creationId xmlns:a16="http://schemas.microsoft.com/office/drawing/2014/main" id="{565F6716-8CE9-4754-BCC4-4E803C7B1CA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/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596EBC3-6BDE-417B-9D3A-2703945C4430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3" name="Rectangle: Rounded Corners 98">
              <a:extLst>
                <a:ext uri="{FF2B5EF4-FFF2-40B4-BE49-F238E27FC236}">
                  <a16:creationId xmlns:a16="http://schemas.microsoft.com/office/drawing/2014/main" id="{CBBFEC3D-F23C-42F0-99DB-089E8DD98BC3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SIGNIFICANT EXPERIENCES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6559F58-2054-4E9D-A75F-8692A26C523B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37" name="trophy win award best prize reward recognition top performer star">
              <a:extLst>
                <a:ext uri="{FF2B5EF4-FFF2-40B4-BE49-F238E27FC236}">
                  <a16:creationId xmlns:a16="http://schemas.microsoft.com/office/drawing/2014/main" id="{6412261F-134D-49C3-9A5F-5B6C51592BA8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38" name="Freeform 75">
                <a:extLst>
                  <a:ext uri="{FF2B5EF4-FFF2-40B4-BE49-F238E27FC236}">
                    <a16:creationId xmlns:a16="http://schemas.microsoft.com/office/drawing/2014/main" id="{D4B7B4C9-204F-4C10-B84A-A73308FAFC1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39" name="Freeform 76">
                <a:extLst>
                  <a:ext uri="{FF2B5EF4-FFF2-40B4-BE49-F238E27FC236}">
                    <a16:creationId xmlns:a16="http://schemas.microsoft.com/office/drawing/2014/main" id="{64AE8827-B49A-41BE-9C02-4A46058892A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0" name="Freeform 77">
                <a:extLst>
                  <a:ext uri="{FF2B5EF4-FFF2-40B4-BE49-F238E27FC236}">
                    <a16:creationId xmlns:a16="http://schemas.microsoft.com/office/drawing/2014/main" id="{6CC663FC-2175-4EB3-8B47-65F3A9DCF36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1" name="Freeform 78">
                <a:extLst>
                  <a:ext uri="{FF2B5EF4-FFF2-40B4-BE49-F238E27FC236}">
                    <a16:creationId xmlns:a16="http://schemas.microsoft.com/office/drawing/2014/main" id="{0C8B8A47-96D3-4108-B1FE-A92BB7C65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2" name="Freeform 79">
                <a:extLst>
                  <a:ext uri="{FF2B5EF4-FFF2-40B4-BE49-F238E27FC236}">
                    <a16:creationId xmlns:a16="http://schemas.microsoft.com/office/drawing/2014/main" id="{72EF509C-7570-4F0E-AF18-D7E973BC2C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8" name="Group 101">
            <a:extLst>
              <a:ext uri="{FF2B5EF4-FFF2-40B4-BE49-F238E27FC236}">
                <a16:creationId xmlns:a16="http://schemas.microsoft.com/office/drawing/2014/main" id="{9A4CB9D6-D558-4329-A3A2-049089623931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69" name="Graphic 102">
              <a:extLst>
                <a:ext uri="{FF2B5EF4-FFF2-40B4-BE49-F238E27FC236}">
                  <a16:creationId xmlns:a16="http://schemas.microsoft.com/office/drawing/2014/main" id="{A2D8835B-45CF-4A2B-8DA9-EC5B63E83A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70" name="Graphic 103">
              <a:extLst>
                <a:ext uri="{FF2B5EF4-FFF2-40B4-BE49-F238E27FC236}">
                  <a16:creationId xmlns:a16="http://schemas.microsoft.com/office/drawing/2014/main" id="{F65368AD-4461-4E83-9A1B-CD51D32680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71" name="Rectangle: Rounded Corners 10">
            <a:extLst>
              <a:ext uri="{FF2B5EF4-FFF2-40B4-BE49-F238E27FC236}">
                <a16:creationId xmlns:a16="http://schemas.microsoft.com/office/drawing/2014/main" id="{41E5B7EE-A75D-493D-AB76-434D66BB6747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</a:t>
            </a:r>
            <a:r>
              <a:rPr lang="en-US" sz="1100" b="1" cap="all">
                <a:solidFill>
                  <a:srgbClr val="7500C0"/>
                </a:solidFill>
                <a:latin typeface="Graphik" panose="020B0503030202060203" pitchFamily="34" charset="0"/>
              </a:rPr>
              <a:t>Professional and academic background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1" name="Rectangle: Rounded Corners 10">
            <a:extLst>
              <a:ext uri="{FF2B5EF4-FFF2-40B4-BE49-F238E27FC236}">
                <a16:creationId xmlns:a16="http://schemas.microsoft.com/office/drawing/2014/main" id="{EDCB3B12-D62F-42E1-88AC-56FF1042E3CC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SKILLS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47FEDD9-553E-4955-9149-6E9344E9E3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33" name="Rectangle: Rounded Corners 10">
            <a:extLst>
              <a:ext uri="{FF2B5EF4-FFF2-40B4-BE49-F238E27FC236}">
                <a16:creationId xmlns:a16="http://schemas.microsoft.com/office/drawing/2014/main" id="{7D54ABB5-A3FE-4237-A161-52154AA3CCD9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5" name="Text Placeholder 131">
            <a:extLst>
              <a:ext uri="{FF2B5EF4-FFF2-40B4-BE49-F238E27FC236}">
                <a16:creationId xmlns:a16="http://schemas.microsoft.com/office/drawing/2014/main" id="{7D4DA43C-5EC7-43C8-9820-DD3BA62967A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2" name="Text Placeholder 131">
            <a:extLst>
              <a:ext uri="{FF2B5EF4-FFF2-40B4-BE49-F238E27FC236}">
                <a16:creationId xmlns:a16="http://schemas.microsoft.com/office/drawing/2014/main" id="{097ED99D-BC02-4487-94BD-0E440E52C28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FA1FEB5-4C05-4A40-A583-7329D7C4E4C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575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Rectangle: Diagonal Corners Rounded 56">
            <a:extLst>
              <a:ext uri="{FF2B5EF4-FFF2-40B4-BE49-F238E27FC236}">
                <a16:creationId xmlns:a16="http://schemas.microsoft.com/office/drawing/2014/main" id="{7765C9F2-C31D-4312-8AC6-8F646D882133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58" name="Rechteck 9">
            <a:extLst>
              <a:ext uri="{FF2B5EF4-FFF2-40B4-BE49-F238E27FC236}">
                <a16:creationId xmlns:a16="http://schemas.microsoft.com/office/drawing/2014/main" id="{E20DDD5B-5D0F-4068-8427-767F68BBFF04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sp>
        <p:nvSpPr>
          <p:cNvPr id="59" name="Text Placeholder 9">
            <a:extLst>
              <a:ext uri="{FF2B5EF4-FFF2-40B4-BE49-F238E27FC236}">
                <a16:creationId xmlns:a16="http://schemas.microsoft.com/office/drawing/2014/main" id="{82FC41C2-A308-445D-B715-8DB7BDBFBB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Prénom  nom</a:t>
            </a:r>
          </a:p>
        </p:txBody>
      </p:sp>
      <p:sp>
        <p:nvSpPr>
          <p:cNvPr id="60" name="Text Placeholder 131">
            <a:extLst>
              <a:ext uri="{FF2B5EF4-FFF2-40B4-BE49-F238E27FC236}">
                <a16:creationId xmlns:a16="http://schemas.microsoft.com/office/drawing/2014/main" id="{76F4FEFD-C1F9-4798-A034-8C14D63D14C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</a:t>
            </a:r>
            <a:endParaRPr lang="en-GB"/>
          </a:p>
          <a:p>
            <a:endParaRPr lang="en-US"/>
          </a:p>
        </p:txBody>
      </p:sp>
      <p:sp>
        <p:nvSpPr>
          <p:cNvPr id="61" name="Text Placeholder 131">
            <a:extLst>
              <a:ext uri="{FF2B5EF4-FFF2-40B4-BE49-F238E27FC236}">
                <a16:creationId xmlns:a16="http://schemas.microsoft.com/office/drawing/2014/main" id="{BC080545-AEB9-4F86-8398-811B30C5DE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>
                <a:solidFill>
                  <a:schemeClr val="tx1"/>
                </a:solidFill>
              </a:defRPr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</a:t>
            </a: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principales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 principales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3E51176-9D52-44A0-9889-3A59D253018E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4" name="Rectangle: Rounded Corners 98">
              <a:extLst>
                <a:ext uri="{FF2B5EF4-FFF2-40B4-BE49-F238E27FC236}">
                  <a16:creationId xmlns:a16="http://schemas.microsoft.com/office/drawing/2014/main" id="{3DC0D7D1-1EC6-44B1-A838-6B332020B5A0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EXPéRIENCES SIGNIFICATIVES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601A531-BE0D-4A47-964F-AB4D15ECD3D7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68" name="trophy win award best prize reward recognition top performer star">
              <a:extLst>
                <a:ext uri="{FF2B5EF4-FFF2-40B4-BE49-F238E27FC236}">
                  <a16:creationId xmlns:a16="http://schemas.microsoft.com/office/drawing/2014/main" id="{2476699F-7FD2-43D7-92C2-3976B9CCC33A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69" name="Freeform 75">
                <a:extLst>
                  <a:ext uri="{FF2B5EF4-FFF2-40B4-BE49-F238E27FC236}">
                    <a16:creationId xmlns:a16="http://schemas.microsoft.com/office/drawing/2014/main" id="{1530B87D-77B9-4CE1-99B3-257BB3FF941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0" name="Freeform 76">
                <a:extLst>
                  <a:ext uri="{FF2B5EF4-FFF2-40B4-BE49-F238E27FC236}">
                    <a16:creationId xmlns:a16="http://schemas.microsoft.com/office/drawing/2014/main" id="{0301ABAD-9225-408E-82DF-24182EC919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1" name="Freeform 77">
                <a:extLst>
                  <a:ext uri="{FF2B5EF4-FFF2-40B4-BE49-F238E27FC236}">
                    <a16:creationId xmlns:a16="http://schemas.microsoft.com/office/drawing/2014/main" id="{E4579AF6-A0F9-4167-89DE-116F3F242A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88" name="Freeform 78">
                <a:extLst>
                  <a:ext uri="{FF2B5EF4-FFF2-40B4-BE49-F238E27FC236}">
                    <a16:creationId xmlns:a16="http://schemas.microsoft.com/office/drawing/2014/main" id="{D418FA72-AB87-46D0-9E89-F28847543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00" name="Freeform 79">
                <a:extLst>
                  <a:ext uri="{FF2B5EF4-FFF2-40B4-BE49-F238E27FC236}">
                    <a16:creationId xmlns:a16="http://schemas.microsoft.com/office/drawing/2014/main" id="{1E28F628-2379-409C-8684-FA1728A8B4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1" name="Group 101">
            <a:extLst>
              <a:ext uri="{FF2B5EF4-FFF2-40B4-BE49-F238E27FC236}">
                <a16:creationId xmlns:a16="http://schemas.microsoft.com/office/drawing/2014/main" id="{DFA93745-192C-4540-9787-AE8F361061A3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102" name="Graphic 102">
              <a:extLst>
                <a:ext uri="{FF2B5EF4-FFF2-40B4-BE49-F238E27FC236}">
                  <a16:creationId xmlns:a16="http://schemas.microsoft.com/office/drawing/2014/main" id="{7B821BD6-B088-4171-A842-028D60945A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103" name="Graphic 103">
              <a:extLst>
                <a:ext uri="{FF2B5EF4-FFF2-40B4-BE49-F238E27FC236}">
                  <a16:creationId xmlns:a16="http://schemas.microsoft.com/office/drawing/2014/main" id="{83238B4C-6AAE-47E6-93F8-C1BAC9D54B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104" name="Rectangle: Rounded Corners 10">
            <a:extLst>
              <a:ext uri="{FF2B5EF4-FFF2-40B4-BE49-F238E27FC236}">
                <a16:creationId xmlns:a16="http://schemas.microsoft.com/office/drawing/2014/main" id="{C8346483-7DEA-40C6-844D-EEB55AF8AA1C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PARCOURS PROFESSIONNEL ET ACADÉMIQUE</a:t>
            </a:r>
          </a:p>
        </p:txBody>
      </p:sp>
      <p:sp>
        <p:nvSpPr>
          <p:cNvPr id="105" name="Rectangle: Rounded Corners 10">
            <a:extLst>
              <a:ext uri="{FF2B5EF4-FFF2-40B4-BE49-F238E27FC236}">
                <a16:creationId xmlns:a16="http://schemas.microsoft.com/office/drawing/2014/main" id="{074314DF-E8DE-4257-BB1B-7C50A7FC642B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COMPÉTENCES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6" name="Text Placeholder 9">
            <a:extLst>
              <a:ext uri="{FF2B5EF4-FFF2-40B4-BE49-F238E27FC236}">
                <a16:creationId xmlns:a16="http://schemas.microsoft.com/office/drawing/2014/main" id="{99C5DC95-2DAC-40D9-BCEA-98D2D3E0BE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Rôle</a:t>
            </a:r>
            <a:endParaRPr lang="en-US"/>
          </a:p>
        </p:txBody>
      </p:sp>
      <p:sp>
        <p:nvSpPr>
          <p:cNvPr id="107" name="Rectangle: Rounded Corners 10">
            <a:extLst>
              <a:ext uri="{FF2B5EF4-FFF2-40B4-BE49-F238E27FC236}">
                <a16:creationId xmlns:a16="http://schemas.microsoft.com/office/drawing/2014/main" id="{9A58CF05-3C25-4E49-8BB9-13CB0BAA426E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9" name="Text Placeholder 131">
            <a:extLst>
              <a:ext uri="{FF2B5EF4-FFF2-40B4-BE49-F238E27FC236}">
                <a16:creationId xmlns:a16="http://schemas.microsoft.com/office/drawing/2014/main" id="{8457750B-1B67-4E6F-91F8-E835B830C01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A2EA68B-9BB2-4DDD-BEEF-4E437C63F146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7" name="Text Placeholder 131">
            <a:extLst>
              <a:ext uri="{FF2B5EF4-FFF2-40B4-BE49-F238E27FC236}">
                <a16:creationId xmlns:a16="http://schemas.microsoft.com/office/drawing/2014/main" id="{A26A33F3-D88F-48BE-B4E7-4DFBFB77AD3F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185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AB4BC4BF-5960-4EEA-A3F1-5837F24D238F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12" name="Rechteck 9">
            <a:extLst>
              <a:ext uri="{FF2B5EF4-FFF2-40B4-BE49-F238E27FC236}">
                <a16:creationId xmlns:a16="http://schemas.microsoft.com/office/drawing/2014/main" id="{63D09389-048B-4EA1-89D9-AEE8AE1C4625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4B6BF-F976-407A-B724-BF43FD1368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</a:p>
        </p:txBody>
      </p:sp>
      <p:sp>
        <p:nvSpPr>
          <p:cNvPr id="44" name="Text Placeholder 131">
            <a:extLst>
              <a:ext uri="{FF2B5EF4-FFF2-40B4-BE49-F238E27FC236}">
                <a16:creationId xmlns:a16="http://schemas.microsoft.com/office/drawing/2014/main" id="{CF439A69-077F-458A-9472-FBA1545CCF9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XXXX</a:t>
            </a:r>
            <a:endParaRPr lang="en-GB"/>
          </a:p>
          <a:p>
            <a:endParaRPr lang="en-US"/>
          </a:p>
        </p:txBody>
      </p:sp>
      <p:sp>
        <p:nvSpPr>
          <p:cNvPr id="51" name="Text Placeholder 131">
            <a:extLst>
              <a:ext uri="{FF2B5EF4-FFF2-40B4-BE49-F238E27FC236}">
                <a16:creationId xmlns:a16="http://schemas.microsoft.com/office/drawing/2014/main" id="{565F6716-8CE9-4754-BCC4-4E803C7B1CA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/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596EBC3-6BDE-417B-9D3A-2703945C4430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3" name="Rectangle: Rounded Corners 98">
              <a:extLst>
                <a:ext uri="{FF2B5EF4-FFF2-40B4-BE49-F238E27FC236}">
                  <a16:creationId xmlns:a16="http://schemas.microsoft.com/office/drawing/2014/main" id="{CBBFEC3D-F23C-42F0-99DB-089E8DD98BC3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SIGNIFICANT EXPERIENCES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6559F58-2054-4E9D-A75F-8692A26C523B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37" name="trophy win award best prize reward recognition top performer star">
              <a:extLst>
                <a:ext uri="{FF2B5EF4-FFF2-40B4-BE49-F238E27FC236}">
                  <a16:creationId xmlns:a16="http://schemas.microsoft.com/office/drawing/2014/main" id="{6412261F-134D-49C3-9A5F-5B6C51592BA8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38" name="Freeform 75">
                <a:extLst>
                  <a:ext uri="{FF2B5EF4-FFF2-40B4-BE49-F238E27FC236}">
                    <a16:creationId xmlns:a16="http://schemas.microsoft.com/office/drawing/2014/main" id="{D4B7B4C9-204F-4C10-B84A-A73308FAFC1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39" name="Freeform 76">
                <a:extLst>
                  <a:ext uri="{FF2B5EF4-FFF2-40B4-BE49-F238E27FC236}">
                    <a16:creationId xmlns:a16="http://schemas.microsoft.com/office/drawing/2014/main" id="{64AE8827-B49A-41BE-9C02-4A46058892A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0" name="Freeform 77">
                <a:extLst>
                  <a:ext uri="{FF2B5EF4-FFF2-40B4-BE49-F238E27FC236}">
                    <a16:creationId xmlns:a16="http://schemas.microsoft.com/office/drawing/2014/main" id="{6CC663FC-2175-4EB3-8B47-65F3A9DCF36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1" name="Freeform 78">
                <a:extLst>
                  <a:ext uri="{FF2B5EF4-FFF2-40B4-BE49-F238E27FC236}">
                    <a16:creationId xmlns:a16="http://schemas.microsoft.com/office/drawing/2014/main" id="{0C8B8A47-96D3-4108-B1FE-A92BB7C65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2" name="Freeform 79">
                <a:extLst>
                  <a:ext uri="{FF2B5EF4-FFF2-40B4-BE49-F238E27FC236}">
                    <a16:creationId xmlns:a16="http://schemas.microsoft.com/office/drawing/2014/main" id="{72EF509C-7570-4F0E-AF18-D7E973BC2C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8" name="Group 101">
            <a:extLst>
              <a:ext uri="{FF2B5EF4-FFF2-40B4-BE49-F238E27FC236}">
                <a16:creationId xmlns:a16="http://schemas.microsoft.com/office/drawing/2014/main" id="{9A4CB9D6-D558-4329-A3A2-049089623931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69" name="Graphic 102">
              <a:extLst>
                <a:ext uri="{FF2B5EF4-FFF2-40B4-BE49-F238E27FC236}">
                  <a16:creationId xmlns:a16="http://schemas.microsoft.com/office/drawing/2014/main" id="{A2D8835B-45CF-4A2B-8DA9-EC5B63E83A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70" name="Graphic 103">
              <a:extLst>
                <a:ext uri="{FF2B5EF4-FFF2-40B4-BE49-F238E27FC236}">
                  <a16:creationId xmlns:a16="http://schemas.microsoft.com/office/drawing/2014/main" id="{F65368AD-4461-4E83-9A1B-CD51D32680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71" name="Rectangle: Rounded Corners 10">
            <a:extLst>
              <a:ext uri="{FF2B5EF4-FFF2-40B4-BE49-F238E27FC236}">
                <a16:creationId xmlns:a16="http://schemas.microsoft.com/office/drawing/2014/main" id="{41E5B7EE-A75D-493D-AB76-434D66BB6747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</a:t>
            </a:r>
            <a:r>
              <a:rPr lang="en-US" sz="1100" b="1" cap="all">
                <a:solidFill>
                  <a:srgbClr val="7500C0"/>
                </a:solidFill>
                <a:latin typeface="Graphik" panose="020B0503030202060203" pitchFamily="34" charset="0"/>
              </a:rPr>
              <a:t>Professional and academic background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1" name="Rectangle: Rounded Corners 10">
            <a:extLst>
              <a:ext uri="{FF2B5EF4-FFF2-40B4-BE49-F238E27FC236}">
                <a16:creationId xmlns:a16="http://schemas.microsoft.com/office/drawing/2014/main" id="{EDCB3B12-D62F-42E1-88AC-56FF1042E3CC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SKILLS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47FEDD9-553E-4955-9149-6E9344E9E3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33" name="Rectangle: Rounded Corners 10">
            <a:extLst>
              <a:ext uri="{FF2B5EF4-FFF2-40B4-BE49-F238E27FC236}">
                <a16:creationId xmlns:a16="http://schemas.microsoft.com/office/drawing/2014/main" id="{7D54ABB5-A3FE-4237-A161-52154AA3CCD9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5" name="Text Placeholder 131">
            <a:extLst>
              <a:ext uri="{FF2B5EF4-FFF2-40B4-BE49-F238E27FC236}">
                <a16:creationId xmlns:a16="http://schemas.microsoft.com/office/drawing/2014/main" id="{7D4DA43C-5EC7-43C8-9820-DD3BA62967A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2" name="Text Placeholder 131">
            <a:extLst>
              <a:ext uri="{FF2B5EF4-FFF2-40B4-BE49-F238E27FC236}">
                <a16:creationId xmlns:a16="http://schemas.microsoft.com/office/drawing/2014/main" id="{097ED99D-BC02-4487-94BD-0E440E52C28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FA1FEB5-4C05-4A40-A583-7329D7C4E4C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426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Rectangle: Diagonal Corners Rounded 56">
            <a:extLst>
              <a:ext uri="{FF2B5EF4-FFF2-40B4-BE49-F238E27FC236}">
                <a16:creationId xmlns:a16="http://schemas.microsoft.com/office/drawing/2014/main" id="{7765C9F2-C31D-4312-8AC6-8F646D882133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58" name="Rechteck 9">
            <a:extLst>
              <a:ext uri="{FF2B5EF4-FFF2-40B4-BE49-F238E27FC236}">
                <a16:creationId xmlns:a16="http://schemas.microsoft.com/office/drawing/2014/main" id="{E20DDD5B-5D0F-4068-8427-767F68BBFF04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sp>
        <p:nvSpPr>
          <p:cNvPr id="59" name="Text Placeholder 9">
            <a:extLst>
              <a:ext uri="{FF2B5EF4-FFF2-40B4-BE49-F238E27FC236}">
                <a16:creationId xmlns:a16="http://schemas.microsoft.com/office/drawing/2014/main" id="{82FC41C2-A308-445D-B715-8DB7BDBFBB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Prénom  nom</a:t>
            </a:r>
          </a:p>
        </p:txBody>
      </p:sp>
      <p:sp>
        <p:nvSpPr>
          <p:cNvPr id="60" name="Text Placeholder 131">
            <a:extLst>
              <a:ext uri="{FF2B5EF4-FFF2-40B4-BE49-F238E27FC236}">
                <a16:creationId xmlns:a16="http://schemas.microsoft.com/office/drawing/2014/main" id="{76F4FEFD-C1F9-4798-A034-8C14D63D14C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</a:t>
            </a:r>
            <a:endParaRPr lang="en-GB"/>
          </a:p>
          <a:p>
            <a:endParaRPr lang="en-US"/>
          </a:p>
        </p:txBody>
      </p:sp>
      <p:sp>
        <p:nvSpPr>
          <p:cNvPr id="61" name="Text Placeholder 131">
            <a:extLst>
              <a:ext uri="{FF2B5EF4-FFF2-40B4-BE49-F238E27FC236}">
                <a16:creationId xmlns:a16="http://schemas.microsoft.com/office/drawing/2014/main" id="{BC080545-AEB9-4F86-8398-811B30C5DE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>
                <a:solidFill>
                  <a:schemeClr val="tx1"/>
                </a:solidFill>
              </a:defRPr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</a:t>
            </a: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principales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 principales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3E51176-9D52-44A0-9889-3A59D253018E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4" name="Rectangle: Rounded Corners 98">
              <a:extLst>
                <a:ext uri="{FF2B5EF4-FFF2-40B4-BE49-F238E27FC236}">
                  <a16:creationId xmlns:a16="http://schemas.microsoft.com/office/drawing/2014/main" id="{3DC0D7D1-1EC6-44B1-A838-6B332020B5A0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EXPéRIENCES SIGNIFICATIVES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601A531-BE0D-4A47-964F-AB4D15ECD3D7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68" name="trophy win award best prize reward recognition top performer star">
              <a:extLst>
                <a:ext uri="{FF2B5EF4-FFF2-40B4-BE49-F238E27FC236}">
                  <a16:creationId xmlns:a16="http://schemas.microsoft.com/office/drawing/2014/main" id="{2476699F-7FD2-43D7-92C2-3976B9CCC33A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69" name="Freeform 75">
                <a:extLst>
                  <a:ext uri="{FF2B5EF4-FFF2-40B4-BE49-F238E27FC236}">
                    <a16:creationId xmlns:a16="http://schemas.microsoft.com/office/drawing/2014/main" id="{1530B87D-77B9-4CE1-99B3-257BB3FF941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0" name="Freeform 76">
                <a:extLst>
                  <a:ext uri="{FF2B5EF4-FFF2-40B4-BE49-F238E27FC236}">
                    <a16:creationId xmlns:a16="http://schemas.microsoft.com/office/drawing/2014/main" id="{0301ABAD-9225-408E-82DF-24182EC919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1" name="Freeform 77">
                <a:extLst>
                  <a:ext uri="{FF2B5EF4-FFF2-40B4-BE49-F238E27FC236}">
                    <a16:creationId xmlns:a16="http://schemas.microsoft.com/office/drawing/2014/main" id="{E4579AF6-A0F9-4167-89DE-116F3F242A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88" name="Freeform 78">
                <a:extLst>
                  <a:ext uri="{FF2B5EF4-FFF2-40B4-BE49-F238E27FC236}">
                    <a16:creationId xmlns:a16="http://schemas.microsoft.com/office/drawing/2014/main" id="{D418FA72-AB87-46D0-9E89-F28847543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00" name="Freeform 79">
                <a:extLst>
                  <a:ext uri="{FF2B5EF4-FFF2-40B4-BE49-F238E27FC236}">
                    <a16:creationId xmlns:a16="http://schemas.microsoft.com/office/drawing/2014/main" id="{1E28F628-2379-409C-8684-FA1728A8B4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1" name="Group 101">
            <a:extLst>
              <a:ext uri="{FF2B5EF4-FFF2-40B4-BE49-F238E27FC236}">
                <a16:creationId xmlns:a16="http://schemas.microsoft.com/office/drawing/2014/main" id="{DFA93745-192C-4540-9787-AE8F361061A3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102" name="Graphic 102">
              <a:extLst>
                <a:ext uri="{FF2B5EF4-FFF2-40B4-BE49-F238E27FC236}">
                  <a16:creationId xmlns:a16="http://schemas.microsoft.com/office/drawing/2014/main" id="{7B821BD6-B088-4171-A842-028D60945A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103" name="Graphic 103">
              <a:extLst>
                <a:ext uri="{FF2B5EF4-FFF2-40B4-BE49-F238E27FC236}">
                  <a16:creationId xmlns:a16="http://schemas.microsoft.com/office/drawing/2014/main" id="{83238B4C-6AAE-47E6-93F8-C1BAC9D54B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104" name="Rectangle: Rounded Corners 10">
            <a:extLst>
              <a:ext uri="{FF2B5EF4-FFF2-40B4-BE49-F238E27FC236}">
                <a16:creationId xmlns:a16="http://schemas.microsoft.com/office/drawing/2014/main" id="{C8346483-7DEA-40C6-844D-EEB55AF8AA1C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PARCOURS PROFESSIONNEL ET ACADÉMIQUE</a:t>
            </a:r>
          </a:p>
        </p:txBody>
      </p:sp>
      <p:sp>
        <p:nvSpPr>
          <p:cNvPr id="105" name="Rectangle: Rounded Corners 10">
            <a:extLst>
              <a:ext uri="{FF2B5EF4-FFF2-40B4-BE49-F238E27FC236}">
                <a16:creationId xmlns:a16="http://schemas.microsoft.com/office/drawing/2014/main" id="{074314DF-E8DE-4257-BB1B-7C50A7FC642B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COMPÉTENCES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6" name="Text Placeholder 9">
            <a:extLst>
              <a:ext uri="{FF2B5EF4-FFF2-40B4-BE49-F238E27FC236}">
                <a16:creationId xmlns:a16="http://schemas.microsoft.com/office/drawing/2014/main" id="{99C5DC95-2DAC-40D9-BCEA-98D2D3E0BE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Rôle</a:t>
            </a:r>
            <a:endParaRPr lang="en-US"/>
          </a:p>
        </p:txBody>
      </p:sp>
      <p:sp>
        <p:nvSpPr>
          <p:cNvPr id="107" name="Rectangle: Rounded Corners 10">
            <a:extLst>
              <a:ext uri="{FF2B5EF4-FFF2-40B4-BE49-F238E27FC236}">
                <a16:creationId xmlns:a16="http://schemas.microsoft.com/office/drawing/2014/main" id="{9A58CF05-3C25-4E49-8BB9-13CB0BAA426E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9" name="Text Placeholder 131">
            <a:extLst>
              <a:ext uri="{FF2B5EF4-FFF2-40B4-BE49-F238E27FC236}">
                <a16:creationId xmlns:a16="http://schemas.microsoft.com/office/drawing/2014/main" id="{8457750B-1B67-4E6F-91F8-E835B830C01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A2EA68B-9BB2-4DDD-BEEF-4E437C63F146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7" name="Text Placeholder 131">
            <a:extLst>
              <a:ext uri="{FF2B5EF4-FFF2-40B4-BE49-F238E27FC236}">
                <a16:creationId xmlns:a16="http://schemas.microsoft.com/office/drawing/2014/main" id="{A26A33F3-D88F-48BE-B4E7-4DFBFB77AD3F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919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AB4BC4BF-5960-4EEA-A3F1-5837F24D238F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12" name="Rechteck 9">
            <a:extLst>
              <a:ext uri="{FF2B5EF4-FFF2-40B4-BE49-F238E27FC236}">
                <a16:creationId xmlns:a16="http://schemas.microsoft.com/office/drawing/2014/main" id="{63D09389-048B-4EA1-89D9-AEE8AE1C4625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4B6BF-F976-407A-B724-BF43FD1368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</a:p>
        </p:txBody>
      </p:sp>
      <p:sp>
        <p:nvSpPr>
          <p:cNvPr id="44" name="Text Placeholder 131">
            <a:extLst>
              <a:ext uri="{FF2B5EF4-FFF2-40B4-BE49-F238E27FC236}">
                <a16:creationId xmlns:a16="http://schemas.microsoft.com/office/drawing/2014/main" id="{CF439A69-077F-458A-9472-FBA1545CCF9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XXXX</a:t>
            </a:r>
            <a:endParaRPr lang="en-GB"/>
          </a:p>
          <a:p>
            <a:endParaRPr lang="en-US"/>
          </a:p>
        </p:txBody>
      </p:sp>
      <p:sp>
        <p:nvSpPr>
          <p:cNvPr id="51" name="Text Placeholder 131">
            <a:extLst>
              <a:ext uri="{FF2B5EF4-FFF2-40B4-BE49-F238E27FC236}">
                <a16:creationId xmlns:a16="http://schemas.microsoft.com/office/drawing/2014/main" id="{565F6716-8CE9-4754-BCC4-4E803C7B1CA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/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596EBC3-6BDE-417B-9D3A-2703945C4430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3" name="Rectangle: Rounded Corners 98">
              <a:extLst>
                <a:ext uri="{FF2B5EF4-FFF2-40B4-BE49-F238E27FC236}">
                  <a16:creationId xmlns:a16="http://schemas.microsoft.com/office/drawing/2014/main" id="{CBBFEC3D-F23C-42F0-99DB-089E8DD98BC3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SIGNIFICANT EXPERIENCES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6559F58-2054-4E9D-A75F-8692A26C523B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37" name="trophy win award best prize reward recognition top performer star">
              <a:extLst>
                <a:ext uri="{FF2B5EF4-FFF2-40B4-BE49-F238E27FC236}">
                  <a16:creationId xmlns:a16="http://schemas.microsoft.com/office/drawing/2014/main" id="{6412261F-134D-49C3-9A5F-5B6C51592BA8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38" name="Freeform 75">
                <a:extLst>
                  <a:ext uri="{FF2B5EF4-FFF2-40B4-BE49-F238E27FC236}">
                    <a16:creationId xmlns:a16="http://schemas.microsoft.com/office/drawing/2014/main" id="{D4B7B4C9-204F-4C10-B84A-A73308FAFC1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39" name="Freeform 76">
                <a:extLst>
                  <a:ext uri="{FF2B5EF4-FFF2-40B4-BE49-F238E27FC236}">
                    <a16:creationId xmlns:a16="http://schemas.microsoft.com/office/drawing/2014/main" id="{64AE8827-B49A-41BE-9C02-4A46058892A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0" name="Freeform 77">
                <a:extLst>
                  <a:ext uri="{FF2B5EF4-FFF2-40B4-BE49-F238E27FC236}">
                    <a16:creationId xmlns:a16="http://schemas.microsoft.com/office/drawing/2014/main" id="{6CC663FC-2175-4EB3-8B47-65F3A9DCF36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1" name="Freeform 78">
                <a:extLst>
                  <a:ext uri="{FF2B5EF4-FFF2-40B4-BE49-F238E27FC236}">
                    <a16:creationId xmlns:a16="http://schemas.microsoft.com/office/drawing/2014/main" id="{0C8B8A47-96D3-4108-B1FE-A92BB7C65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2" name="Freeform 79">
                <a:extLst>
                  <a:ext uri="{FF2B5EF4-FFF2-40B4-BE49-F238E27FC236}">
                    <a16:creationId xmlns:a16="http://schemas.microsoft.com/office/drawing/2014/main" id="{72EF509C-7570-4F0E-AF18-D7E973BC2C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8" name="Group 101">
            <a:extLst>
              <a:ext uri="{FF2B5EF4-FFF2-40B4-BE49-F238E27FC236}">
                <a16:creationId xmlns:a16="http://schemas.microsoft.com/office/drawing/2014/main" id="{9A4CB9D6-D558-4329-A3A2-049089623931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69" name="Graphic 102">
              <a:extLst>
                <a:ext uri="{FF2B5EF4-FFF2-40B4-BE49-F238E27FC236}">
                  <a16:creationId xmlns:a16="http://schemas.microsoft.com/office/drawing/2014/main" id="{A2D8835B-45CF-4A2B-8DA9-EC5B63E83A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70" name="Graphic 103">
              <a:extLst>
                <a:ext uri="{FF2B5EF4-FFF2-40B4-BE49-F238E27FC236}">
                  <a16:creationId xmlns:a16="http://schemas.microsoft.com/office/drawing/2014/main" id="{F65368AD-4461-4E83-9A1B-CD51D32680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71" name="Rectangle: Rounded Corners 10">
            <a:extLst>
              <a:ext uri="{FF2B5EF4-FFF2-40B4-BE49-F238E27FC236}">
                <a16:creationId xmlns:a16="http://schemas.microsoft.com/office/drawing/2014/main" id="{41E5B7EE-A75D-493D-AB76-434D66BB6747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</a:t>
            </a:r>
            <a:r>
              <a:rPr lang="en-US" sz="1100" b="1" cap="all">
                <a:solidFill>
                  <a:srgbClr val="7500C0"/>
                </a:solidFill>
                <a:latin typeface="Graphik" panose="020B0503030202060203" pitchFamily="34" charset="0"/>
              </a:rPr>
              <a:t>Professional and academic background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1" name="Rectangle: Rounded Corners 10">
            <a:extLst>
              <a:ext uri="{FF2B5EF4-FFF2-40B4-BE49-F238E27FC236}">
                <a16:creationId xmlns:a16="http://schemas.microsoft.com/office/drawing/2014/main" id="{EDCB3B12-D62F-42E1-88AC-56FF1042E3CC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SKILLS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47FEDD9-553E-4955-9149-6E9344E9E3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33" name="Rectangle: Rounded Corners 10">
            <a:extLst>
              <a:ext uri="{FF2B5EF4-FFF2-40B4-BE49-F238E27FC236}">
                <a16:creationId xmlns:a16="http://schemas.microsoft.com/office/drawing/2014/main" id="{7D54ABB5-A3FE-4237-A161-52154AA3CCD9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5" name="Text Placeholder 131">
            <a:extLst>
              <a:ext uri="{FF2B5EF4-FFF2-40B4-BE49-F238E27FC236}">
                <a16:creationId xmlns:a16="http://schemas.microsoft.com/office/drawing/2014/main" id="{7D4DA43C-5EC7-43C8-9820-DD3BA62967A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2" name="Text Placeholder 131">
            <a:extLst>
              <a:ext uri="{FF2B5EF4-FFF2-40B4-BE49-F238E27FC236}">
                <a16:creationId xmlns:a16="http://schemas.microsoft.com/office/drawing/2014/main" id="{097ED99D-BC02-4487-94BD-0E440E52C28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FA1FEB5-4C05-4A40-A583-7329D7C4E4C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735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Rectangle: Diagonal Corners Rounded 56">
            <a:extLst>
              <a:ext uri="{FF2B5EF4-FFF2-40B4-BE49-F238E27FC236}">
                <a16:creationId xmlns:a16="http://schemas.microsoft.com/office/drawing/2014/main" id="{7765C9F2-C31D-4312-8AC6-8F646D882133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58" name="Rechteck 9">
            <a:extLst>
              <a:ext uri="{FF2B5EF4-FFF2-40B4-BE49-F238E27FC236}">
                <a16:creationId xmlns:a16="http://schemas.microsoft.com/office/drawing/2014/main" id="{E20DDD5B-5D0F-4068-8427-767F68BBFF04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sp>
        <p:nvSpPr>
          <p:cNvPr id="59" name="Text Placeholder 9">
            <a:extLst>
              <a:ext uri="{FF2B5EF4-FFF2-40B4-BE49-F238E27FC236}">
                <a16:creationId xmlns:a16="http://schemas.microsoft.com/office/drawing/2014/main" id="{82FC41C2-A308-445D-B715-8DB7BDBFBB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Prénom  nom</a:t>
            </a:r>
          </a:p>
        </p:txBody>
      </p:sp>
      <p:sp>
        <p:nvSpPr>
          <p:cNvPr id="60" name="Text Placeholder 131">
            <a:extLst>
              <a:ext uri="{FF2B5EF4-FFF2-40B4-BE49-F238E27FC236}">
                <a16:creationId xmlns:a16="http://schemas.microsoft.com/office/drawing/2014/main" id="{76F4FEFD-C1F9-4798-A034-8C14D63D14C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</a:t>
            </a:r>
            <a:endParaRPr lang="en-GB"/>
          </a:p>
          <a:p>
            <a:endParaRPr lang="en-US"/>
          </a:p>
        </p:txBody>
      </p:sp>
      <p:sp>
        <p:nvSpPr>
          <p:cNvPr id="61" name="Text Placeholder 131">
            <a:extLst>
              <a:ext uri="{FF2B5EF4-FFF2-40B4-BE49-F238E27FC236}">
                <a16:creationId xmlns:a16="http://schemas.microsoft.com/office/drawing/2014/main" id="{BC080545-AEB9-4F86-8398-811B30C5DE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>
                <a:solidFill>
                  <a:schemeClr val="tx1"/>
                </a:solidFill>
              </a:defRPr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</a:t>
            </a: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principales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 principales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3E51176-9D52-44A0-9889-3A59D253018E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4" name="Rectangle: Rounded Corners 98">
              <a:extLst>
                <a:ext uri="{FF2B5EF4-FFF2-40B4-BE49-F238E27FC236}">
                  <a16:creationId xmlns:a16="http://schemas.microsoft.com/office/drawing/2014/main" id="{3DC0D7D1-1EC6-44B1-A838-6B332020B5A0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EXPéRIENCES SIGNIFICATIVES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601A531-BE0D-4A47-964F-AB4D15ECD3D7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68" name="trophy win award best prize reward recognition top performer star">
              <a:extLst>
                <a:ext uri="{FF2B5EF4-FFF2-40B4-BE49-F238E27FC236}">
                  <a16:creationId xmlns:a16="http://schemas.microsoft.com/office/drawing/2014/main" id="{2476699F-7FD2-43D7-92C2-3976B9CCC33A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69" name="Freeform 75">
                <a:extLst>
                  <a:ext uri="{FF2B5EF4-FFF2-40B4-BE49-F238E27FC236}">
                    <a16:creationId xmlns:a16="http://schemas.microsoft.com/office/drawing/2014/main" id="{1530B87D-77B9-4CE1-99B3-257BB3FF941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0" name="Freeform 76">
                <a:extLst>
                  <a:ext uri="{FF2B5EF4-FFF2-40B4-BE49-F238E27FC236}">
                    <a16:creationId xmlns:a16="http://schemas.microsoft.com/office/drawing/2014/main" id="{0301ABAD-9225-408E-82DF-24182EC919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1" name="Freeform 77">
                <a:extLst>
                  <a:ext uri="{FF2B5EF4-FFF2-40B4-BE49-F238E27FC236}">
                    <a16:creationId xmlns:a16="http://schemas.microsoft.com/office/drawing/2014/main" id="{E4579AF6-A0F9-4167-89DE-116F3F242A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88" name="Freeform 78">
                <a:extLst>
                  <a:ext uri="{FF2B5EF4-FFF2-40B4-BE49-F238E27FC236}">
                    <a16:creationId xmlns:a16="http://schemas.microsoft.com/office/drawing/2014/main" id="{D418FA72-AB87-46D0-9E89-F28847543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00" name="Freeform 79">
                <a:extLst>
                  <a:ext uri="{FF2B5EF4-FFF2-40B4-BE49-F238E27FC236}">
                    <a16:creationId xmlns:a16="http://schemas.microsoft.com/office/drawing/2014/main" id="{1E28F628-2379-409C-8684-FA1728A8B4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1" name="Group 101">
            <a:extLst>
              <a:ext uri="{FF2B5EF4-FFF2-40B4-BE49-F238E27FC236}">
                <a16:creationId xmlns:a16="http://schemas.microsoft.com/office/drawing/2014/main" id="{DFA93745-192C-4540-9787-AE8F361061A3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102" name="Graphic 102">
              <a:extLst>
                <a:ext uri="{FF2B5EF4-FFF2-40B4-BE49-F238E27FC236}">
                  <a16:creationId xmlns:a16="http://schemas.microsoft.com/office/drawing/2014/main" id="{7B821BD6-B088-4171-A842-028D60945A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103" name="Graphic 103">
              <a:extLst>
                <a:ext uri="{FF2B5EF4-FFF2-40B4-BE49-F238E27FC236}">
                  <a16:creationId xmlns:a16="http://schemas.microsoft.com/office/drawing/2014/main" id="{83238B4C-6AAE-47E6-93F8-C1BAC9D54B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104" name="Rectangle: Rounded Corners 10">
            <a:extLst>
              <a:ext uri="{FF2B5EF4-FFF2-40B4-BE49-F238E27FC236}">
                <a16:creationId xmlns:a16="http://schemas.microsoft.com/office/drawing/2014/main" id="{C8346483-7DEA-40C6-844D-EEB55AF8AA1C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PARCOURS PROFESSIONNEL ET ACADÉMIQUE</a:t>
            </a:r>
          </a:p>
        </p:txBody>
      </p:sp>
      <p:sp>
        <p:nvSpPr>
          <p:cNvPr id="105" name="Rectangle: Rounded Corners 10">
            <a:extLst>
              <a:ext uri="{FF2B5EF4-FFF2-40B4-BE49-F238E27FC236}">
                <a16:creationId xmlns:a16="http://schemas.microsoft.com/office/drawing/2014/main" id="{074314DF-E8DE-4257-BB1B-7C50A7FC642B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COMPÉTENCES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6" name="Text Placeholder 9">
            <a:extLst>
              <a:ext uri="{FF2B5EF4-FFF2-40B4-BE49-F238E27FC236}">
                <a16:creationId xmlns:a16="http://schemas.microsoft.com/office/drawing/2014/main" id="{99C5DC95-2DAC-40D9-BCEA-98D2D3E0BE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Rôle</a:t>
            </a:r>
            <a:endParaRPr lang="en-US"/>
          </a:p>
        </p:txBody>
      </p:sp>
      <p:sp>
        <p:nvSpPr>
          <p:cNvPr id="107" name="Rectangle: Rounded Corners 10">
            <a:extLst>
              <a:ext uri="{FF2B5EF4-FFF2-40B4-BE49-F238E27FC236}">
                <a16:creationId xmlns:a16="http://schemas.microsoft.com/office/drawing/2014/main" id="{9A58CF05-3C25-4E49-8BB9-13CB0BAA426E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9" name="Text Placeholder 131">
            <a:extLst>
              <a:ext uri="{FF2B5EF4-FFF2-40B4-BE49-F238E27FC236}">
                <a16:creationId xmlns:a16="http://schemas.microsoft.com/office/drawing/2014/main" id="{8457750B-1B67-4E6F-91F8-E835B830C01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A2EA68B-9BB2-4DDD-BEEF-4E437C63F146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7" name="Text Placeholder 131">
            <a:extLst>
              <a:ext uri="{FF2B5EF4-FFF2-40B4-BE49-F238E27FC236}">
                <a16:creationId xmlns:a16="http://schemas.microsoft.com/office/drawing/2014/main" id="{A26A33F3-D88F-48BE-B4E7-4DFBFB77AD3F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312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AB4BC4BF-5960-4EEA-A3F1-5837F24D238F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12" name="Rechteck 9">
            <a:extLst>
              <a:ext uri="{FF2B5EF4-FFF2-40B4-BE49-F238E27FC236}">
                <a16:creationId xmlns:a16="http://schemas.microsoft.com/office/drawing/2014/main" id="{63D09389-048B-4EA1-89D9-AEE8AE1C4625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4B6BF-F976-407A-B724-BF43FD1368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</a:p>
        </p:txBody>
      </p:sp>
      <p:sp>
        <p:nvSpPr>
          <p:cNvPr id="44" name="Text Placeholder 131">
            <a:extLst>
              <a:ext uri="{FF2B5EF4-FFF2-40B4-BE49-F238E27FC236}">
                <a16:creationId xmlns:a16="http://schemas.microsoft.com/office/drawing/2014/main" id="{CF439A69-077F-458A-9472-FBA1545CCF9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XXXX</a:t>
            </a:r>
            <a:endParaRPr lang="en-GB"/>
          </a:p>
          <a:p>
            <a:endParaRPr lang="en-US"/>
          </a:p>
        </p:txBody>
      </p:sp>
      <p:sp>
        <p:nvSpPr>
          <p:cNvPr id="51" name="Text Placeholder 131">
            <a:extLst>
              <a:ext uri="{FF2B5EF4-FFF2-40B4-BE49-F238E27FC236}">
                <a16:creationId xmlns:a16="http://schemas.microsoft.com/office/drawing/2014/main" id="{565F6716-8CE9-4754-BCC4-4E803C7B1CA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/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596EBC3-6BDE-417B-9D3A-2703945C4430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3" name="Rectangle: Rounded Corners 98">
              <a:extLst>
                <a:ext uri="{FF2B5EF4-FFF2-40B4-BE49-F238E27FC236}">
                  <a16:creationId xmlns:a16="http://schemas.microsoft.com/office/drawing/2014/main" id="{CBBFEC3D-F23C-42F0-99DB-089E8DD98BC3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SIGNIFICANT EXPERIENCES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6559F58-2054-4E9D-A75F-8692A26C523B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37" name="trophy win award best prize reward recognition top performer star">
              <a:extLst>
                <a:ext uri="{FF2B5EF4-FFF2-40B4-BE49-F238E27FC236}">
                  <a16:creationId xmlns:a16="http://schemas.microsoft.com/office/drawing/2014/main" id="{6412261F-134D-49C3-9A5F-5B6C51592BA8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38" name="Freeform 75">
                <a:extLst>
                  <a:ext uri="{FF2B5EF4-FFF2-40B4-BE49-F238E27FC236}">
                    <a16:creationId xmlns:a16="http://schemas.microsoft.com/office/drawing/2014/main" id="{D4B7B4C9-204F-4C10-B84A-A73308FAFC1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39" name="Freeform 76">
                <a:extLst>
                  <a:ext uri="{FF2B5EF4-FFF2-40B4-BE49-F238E27FC236}">
                    <a16:creationId xmlns:a16="http://schemas.microsoft.com/office/drawing/2014/main" id="{64AE8827-B49A-41BE-9C02-4A46058892A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0" name="Freeform 77">
                <a:extLst>
                  <a:ext uri="{FF2B5EF4-FFF2-40B4-BE49-F238E27FC236}">
                    <a16:creationId xmlns:a16="http://schemas.microsoft.com/office/drawing/2014/main" id="{6CC663FC-2175-4EB3-8B47-65F3A9DCF36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1" name="Freeform 78">
                <a:extLst>
                  <a:ext uri="{FF2B5EF4-FFF2-40B4-BE49-F238E27FC236}">
                    <a16:creationId xmlns:a16="http://schemas.microsoft.com/office/drawing/2014/main" id="{0C8B8A47-96D3-4108-B1FE-A92BB7C65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2" name="Freeform 79">
                <a:extLst>
                  <a:ext uri="{FF2B5EF4-FFF2-40B4-BE49-F238E27FC236}">
                    <a16:creationId xmlns:a16="http://schemas.microsoft.com/office/drawing/2014/main" id="{72EF509C-7570-4F0E-AF18-D7E973BC2C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8" name="Group 101">
            <a:extLst>
              <a:ext uri="{FF2B5EF4-FFF2-40B4-BE49-F238E27FC236}">
                <a16:creationId xmlns:a16="http://schemas.microsoft.com/office/drawing/2014/main" id="{9A4CB9D6-D558-4329-A3A2-049089623931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69" name="Graphic 102">
              <a:extLst>
                <a:ext uri="{FF2B5EF4-FFF2-40B4-BE49-F238E27FC236}">
                  <a16:creationId xmlns:a16="http://schemas.microsoft.com/office/drawing/2014/main" id="{A2D8835B-45CF-4A2B-8DA9-EC5B63E83A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70" name="Graphic 103">
              <a:extLst>
                <a:ext uri="{FF2B5EF4-FFF2-40B4-BE49-F238E27FC236}">
                  <a16:creationId xmlns:a16="http://schemas.microsoft.com/office/drawing/2014/main" id="{F65368AD-4461-4E83-9A1B-CD51D32680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71" name="Rectangle: Rounded Corners 10">
            <a:extLst>
              <a:ext uri="{FF2B5EF4-FFF2-40B4-BE49-F238E27FC236}">
                <a16:creationId xmlns:a16="http://schemas.microsoft.com/office/drawing/2014/main" id="{41E5B7EE-A75D-493D-AB76-434D66BB6747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</a:t>
            </a:r>
            <a:r>
              <a:rPr lang="en-US" sz="1100" b="1" cap="all">
                <a:solidFill>
                  <a:srgbClr val="7500C0"/>
                </a:solidFill>
                <a:latin typeface="Graphik" panose="020B0503030202060203" pitchFamily="34" charset="0"/>
              </a:rPr>
              <a:t>Professional and academic background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1" name="Rectangle: Rounded Corners 10">
            <a:extLst>
              <a:ext uri="{FF2B5EF4-FFF2-40B4-BE49-F238E27FC236}">
                <a16:creationId xmlns:a16="http://schemas.microsoft.com/office/drawing/2014/main" id="{EDCB3B12-D62F-42E1-88AC-56FF1042E3CC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SKILLS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47FEDD9-553E-4955-9149-6E9344E9E3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33" name="Rectangle: Rounded Corners 10">
            <a:extLst>
              <a:ext uri="{FF2B5EF4-FFF2-40B4-BE49-F238E27FC236}">
                <a16:creationId xmlns:a16="http://schemas.microsoft.com/office/drawing/2014/main" id="{7D54ABB5-A3FE-4237-A161-52154AA3CCD9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5" name="Text Placeholder 131">
            <a:extLst>
              <a:ext uri="{FF2B5EF4-FFF2-40B4-BE49-F238E27FC236}">
                <a16:creationId xmlns:a16="http://schemas.microsoft.com/office/drawing/2014/main" id="{7D4DA43C-5EC7-43C8-9820-DD3BA62967A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2" name="Text Placeholder 131">
            <a:extLst>
              <a:ext uri="{FF2B5EF4-FFF2-40B4-BE49-F238E27FC236}">
                <a16:creationId xmlns:a16="http://schemas.microsoft.com/office/drawing/2014/main" id="{097ED99D-BC02-4487-94BD-0E440E52C28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FA1FEB5-4C05-4A40-A583-7329D7C4E4C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323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Rectangle: Diagonal Corners Rounded 56">
            <a:extLst>
              <a:ext uri="{FF2B5EF4-FFF2-40B4-BE49-F238E27FC236}">
                <a16:creationId xmlns:a16="http://schemas.microsoft.com/office/drawing/2014/main" id="{7765C9F2-C31D-4312-8AC6-8F646D882133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58" name="Rechteck 9">
            <a:extLst>
              <a:ext uri="{FF2B5EF4-FFF2-40B4-BE49-F238E27FC236}">
                <a16:creationId xmlns:a16="http://schemas.microsoft.com/office/drawing/2014/main" id="{E20DDD5B-5D0F-4068-8427-767F68BBFF04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sp>
        <p:nvSpPr>
          <p:cNvPr id="59" name="Text Placeholder 9">
            <a:extLst>
              <a:ext uri="{FF2B5EF4-FFF2-40B4-BE49-F238E27FC236}">
                <a16:creationId xmlns:a16="http://schemas.microsoft.com/office/drawing/2014/main" id="{82FC41C2-A308-445D-B715-8DB7BDBFBB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Prénom  nom</a:t>
            </a:r>
          </a:p>
        </p:txBody>
      </p:sp>
      <p:sp>
        <p:nvSpPr>
          <p:cNvPr id="60" name="Text Placeholder 131">
            <a:extLst>
              <a:ext uri="{FF2B5EF4-FFF2-40B4-BE49-F238E27FC236}">
                <a16:creationId xmlns:a16="http://schemas.microsoft.com/office/drawing/2014/main" id="{76F4FEFD-C1F9-4798-A034-8C14D63D14C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</a:t>
            </a:r>
            <a:endParaRPr lang="en-GB"/>
          </a:p>
          <a:p>
            <a:endParaRPr lang="en-US"/>
          </a:p>
        </p:txBody>
      </p:sp>
      <p:sp>
        <p:nvSpPr>
          <p:cNvPr id="61" name="Text Placeholder 131">
            <a:extLst>
              <a:ext uri="{FF2B5EF4-FFF2-40B4-BE49-F238E27FC236}">
                <a16:creationId xmlns:a16="http://schemas.microsoft.com/office/drawing/2014/main" id="{BC080545-AEB9-4F86-8398-811B30C5DE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>
                <a:solidFill>
                  <a:schemeClr val="tx1"/>
                </a:solidFill>
              </a:defRPr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</a:t>
            </a: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principales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 principales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3E51176-9D52-44A0-9889-3A59D253018E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4" name="Rectangle: Rounded Corners 98">
              <a:extLst>
                <a:ext uri="{FF2B5EF4-FFF2-40B4-BE49-F238E27FC236}">
                  <a16:creationId xmlns:a16="http://schemas.microsoft.com/office/drawing/2014/main" id="{3DC0D7D1-1EC6-44B1-A838-6B332020B5A0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EXPéRIENCES SIGNIFICATIVES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601A531-BE0D-4A47-964F-AB4D15ECD3D7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68" name="trophy win award best prize reward recognition top performer star">
              <a:extLst>
                <a:ext uri="{FF2B5EF4-FFF2-40B4-BE49-F238E27FC236}">
                  <a16:creationId xmlns:a16="http://schemas.microsoft.com/office/drawing/2014/main" id="{2476699F-7FD2-43D7-92C2-3976B9CCC33A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69" name="Freeform 75">
                <a:extLst>
                  <a:ext uri="{FF2B5EF4-FFF2-40B4-BE49-F238E27FC236}">
                    <a16:creationId xmlns:a16="http://schemas.microsoft.com/office/drawing/2014/main" id="{1530B87D-77B9-4CE1-99B3-257BB3FF941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0" name="Freeform 76">
                <a:extLst>
                  <a:ext uri="{FF2B5EF4-FFF2-40B4-BE49-F238E27FC236}">
                    <a16:creationId xmlns:a16="http://schemas.microsoft.com/office/drawing/2014/main" id="{0301ABAD-9225-408E-82DF-24182EC919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1" name="Freeform 77">
                <a:extLst>
                  <a:ext uri="{FF2B5EF4-FFF2-40B4-BE49-F238E27FC236}">
                    <a16:creationId xmlns:a16="http://schemas.microsoft.com/office/drawing/2014/main" id="{E4579AF6-A0F9-4167-89DE-116F3F242A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88" name="Freeform 78">
                <a:extLst>
                  <a:ext uri="{FF2B5EF4-FFF2-40B4-BE49-F238E27FC236}">
                    <a16:creationId xmlns:a16="http://schemas.microsoft.com/office/drawing/2014/main" id="{D418FA72-AB87-46D0-9E89-F28847543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00" name="Freeform 79">
                <a:extLst>
                  <a:ext uri="{FF2B5EF4-FFF2-40B4-BE49-F238E27FC236}">
                    <a16:creationId xmlns:a16="http://schemas.microsoft.com/office/drawing/2014/main" id="{1E28F628-2379-409C-8684-FA1728A8B4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1" name="Group 101">
            <a:extLst>
              <a:ext uri="{FF2B5EF4-FFF2-40B4-BE49-F238E27FC236}">
                <a16:creationId xmlns:a16="http://schemas.microsoft.com/office/drawing/2014/main" id="{DFA93745-192C-4540-9787-AE8F361061A3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102" name="Graphic 102">
              <a:extLst>
                <a:ext uri="{FF2B5EF4-FFF2-40B4-BE49-F238E27FC236}">
                  <a16:creationId xmlns:a16="http://schemas.microsoft.com/office/drawing/2014/main" id="{7B821BD6-B088-4171-A842-028D60945A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103" name="Graphic 103">
              <a:extLst>
                <a:ext uri="{FF2B5EF4-FFF2-40B4-BE49-F238E27FC236}">
                  <a16:creationId xmlns:a16="http://schemas.microsoft.com/office/drawing/2014/main" id="{83238B4C-6AAE-47E6-93F8-C1BAC9D54B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104" name="Rectangle: Rounded Corners 10">
            <a:extLst>
              <a:ext uri="{FF2B5EF4-FFF2-40B4-BE49-F238E27FC236}">
                <a16:creationId xmlns:a16="http://schemas.microsoft.com/office/drawing/2014/main" id="{C8346483-7DEA-40C6-844D-EEB55AF8AA1C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PARCOURS PROFESSIONNEL ET ACADÉMIQUE</a:t>
            </a:r>
          </a:p>
        </p:txBody>
      </p:sp>
      <p:sp>
        <p:nvSpPr>
          <p:cNvPr id="105" name="Rectangle: Rounded Corners 10">
            <a:extLst>
              <a:ext uri="{FF2B5EF4-FFF2-40B4-BE49-F238E27FC236}">
                <a16:creationId xmlns:a16="http://schemas.microsoft.com/office/drawing/2014/main" id="{074314DF-E8DE-4257-BB1B-7C50A7FC642B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COMPÉTENCES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6" name="Text Placeholder 9">
            <a:extLst>
              <a:ext uri="{FF2B5EF4-FFF2-40B4-BE49-F238E27FC236}">
                <a16:creationId xmlns:a16="http://schemas.microsoft.com/office/drawing/2014/main" id="{99C5DC95-2DAC-40D9-BCEA-98D2D3E0BE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Rôle</a:t>
            </a:r>
            <a:endParaRPr lang="en-US"/>
          </a:p>
        </p:txBody>
      </p:sp>
      <p:sp>
        <p:nvSpPr>
          <p:cNvPr id="107" name="Rectangle: Rounded Corners 10">
            <a:extLst>
              <a:ext uri="{FF2B5EF4-FFF2-40B4-BE49-F238E27FC236}">
                <a16:creationId xmlns:a16="http://schemas.microsoft.com/office/drawing/2014/main" id="{9A58CF05-3C25-4E49-8BB9-13CB0BAA426E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9" name="Text Placeholder 131">
            <a:extLst>
              <a:ext uri="{FF2B5EF4-FFF2-40B4-BE49-F238E27FC236}">
                <a16:creationId xmlns:a16="http://schemas.microsoft.com/office/drawing/2014/main" id="{8457750B-1B67-4E6F-91F8-E835B830C01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A2EA68B-9BB2-4DDD-BEEF-4E437C63F146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7" name="Text Placeholder 131">
            <a:extLst>
              <a:ext uri="{FF2B5EF4-FFF2-40B4-BE49-F238E27FC236}">
                <a16:creationId xmlns:a16="http://schemas.microsoft.com/office/drawing/2014/main" id="{A26A33F3-D88F-48BE-B4E7-4DFBFB77AD3F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5316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opal-CV-po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E520F-DE57-4581-ADE2-8AC9E61790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323" y="82409"/>
            <a:ext cx="11676237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err="1"/>
              <a:t>Exemple</a:t>
            </a:r>
            <a:r>
              <a:rPr lang="en-US"/>
              <a:t> CV PROPALE</a:t>
            </a:r>
            <a:endParaRPr lang="fr-FR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4A55F280-9F80-491E-B3CD-2B1432489352}"/>
              </a:ext>
            </a:extLst>
          </p:cNvPr>
          <p:cNvSpPr/>
          <p:nvPr userDrawn="1"/>
        </p:nvSpPr>
        <p:spPr>
          <a:xfrm>
            <a:off x="6219285" y="1492048"/>
            <a:ext cx="3600000" cy="4978173"/>
          </a:xfrm>
          <a:prstGeom prst="rect">
            <a:avLst/>
          </a:prstGeom>
          <a:solidFill>
            <a:srgbClr val="E6E6DC">
              <a:alpha val="30000"/>
            </a:srgbClr>
          </a:solidFill>
          <a:ln w="19050">
            <a:noFill/>
            <a:prstDash val="sysDot"/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9" name="Straight Connector 14">
            <a:extLst>
              <a:ext uri="{FF2B5EF4-FFF2-40B4-BE49-F238E27FC236}">
                <a16:creationId xmlns:a16="http://schemas.microsoft.com/office/drawing/2014/main" id="{0B9FDDDF-0F1B-4F63-98D7-45DE47AED2E2}"/>
              </a:ext>
            </a:extLst>
          </p:cNvPr>
          <p:cNvCxnSpPr>
            <a:cxnSpLocks/>
          </p:cNvCxnSpPr>
          <p:nvPr userDrawn="1"/>
        </p:nvCxnSpPr>
        <p:spPr>
          <a:xfrm>
            <a:off x="6415507" y="2740283"/>
            <a:ext cx="3207557" cy="0"/>
          </a:xfrm>
          <a:prstGeom prst="line">
            <a:avLst/>
          </a:prstGeom>
          <a:ln w="28575">
            <a:solidFill>
              <a:srgbClr val="B07BD7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Rectangle 4">
            <a:extLst>
              <a:ext uri="{FF2B5EF4-FFF2-40B4-BE49-F238E27FC236}">
                <a16:creationId xmlns:a16="http://schemas.microsoft.com/office/drawing/2014/main" id="{4551FA48-73AB-4ADA-83D0-2564AFDC7C83}"/>
              </a:ext>
            </a:extLst>
          </p:cNvPr>
          <p:cNvSpPr/>
          <p:nvPr userDrawn="1"/>
        </p:nvSpPr>
        <p:spPr>
          <a:xfrm>
            <a:off x="2352523" y="1485162"/>
            <a:ext cx="3600000" cy="4978208"/>
          </a:xfrm>
          <a:prstGeom prst="rect">
            <a:avLst/>
          </a:prstGeom>
          <a:solidFill>
            <a:srgbClr val="E6E6DC">
              <a:alpha val="30000"/>
            </a:srgbClr>
          </a:solidFill>
          <a:ln w="19050">
            <a:noFill/>
            <a:prstDash val="sysDot"/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7" name="Straight Connector 54">
            <a:extLst>
              <a:ext uri="{FF2B5EF4-FFF2-40B4-BE49-F238E27FC236}">
                <a16:creationId xmlns:a16="http://schemas.microsoft.com/office/drawing/2014/main" id="{AA106F94-889A-4EE2-9022-26EDAC8C17F7}"/>
              </a:ext>
            </a:extLst>
          </p:cNvPr>
          <p:cNvCxnSpPr>
            <a:cxnSpLocks/>
          </p:cNvCxnSpPr>
          <p:nvPr userDrawn="1"/>
        </p:nvCxnSpPr>
        <p:spPr>
          <a:xfrm>
            <a:off x="2548745" y="2740283"/>
            <a:ext cx="3207557" cy="0"/>
          </a:xfrm>
          <a:prstGeom prst="line">
            <a:avLst/>
          </a:prstGeom>
          <a:ln w="28575">
            <a:solidFill>
              <a:srgbClr val="B07BD7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Connector 31">
            <a:extLst>
              <a:ext uri="{FF2B5EF4-FFF2-40B4-BE49-F238E27FC236}">
                <a16:creationId xmlns:a16="http://schemas.microsoft.com/office/drawing/2014/main" id="{E7B84E42-65D1-4A5D-84AE-6472D01E2B94}"/>
              </a:ext>
            </a:extLst>
          </p:cNvPr>
          <p:cNvCxnSpPr>
            <a:cxnSpLocks/>
          </p:cNvCxnSpPr>
          <p:nvPr userDrawn="1"/>
        </p:nvCxnSpPr>
        <p:spPr>
          <a:xfrm>
            <a:off x="6073313" y="1498859"/>
            <a:ext cx="0" cy="4964516"/>
          </a:xfrm>
          <a:prstGeom prst="line">
            <a:avLst/>
          </a:prstGeom>
          <a:ln w="28575">
            <a:solidFill>
              <a:srgbClr val="B07BD7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3635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7" Type="http://schemas.openxmlformats.org/officeDocument/2006/relationships/image" Target="../media/image3.sv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ags" Target="../tags/tag3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oleObject" Target="../embeddings/oleObject2.bin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25BFF72-2306-4FE8-243A-A68004871F0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4109346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25BFF72-2306-4FE8-243A-A68004871F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30ECA2-8DCA-43AA-8405-1F532ACC0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17675"/>
            <a:ext cx="11428412" cy="43243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Accenture GTS">
            <a:extLst>
              <a:ext uri="{FF2B5EF4-FFF2-40B4-BE49-F238E27FC236}">
                <a16:creationId xmlns:a16="http://schemas.microsoft.com/office/drawing/2014/main" id="{AC9F4903-0471-4C80-8E15-B8D2D4B3EFC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1000" y="6474701"/>
            <a:ext cx="190800" cy="209415"/>
          </a:xfrm>
          <a:prstGeom prst="rect">
            <a:avLst/>
          </a:prstGeom>
        </p:spPr>
      </p:pic>
      <p:sp>
        <p:nvSpPr>
          <p:cNvPr id="6" name="Titre 5"/>
          <p:cNvSpPr txBox="1">
            <a:spLocks/>
          </p:cNvSpPr>
          <p:nvPr userDrawn="1"/>
        </p:nvSpPr>
        <p:spPr>
          <a:xfrm>
            <a:off x="264120" y="213062"/>
            <a:ext cx="3093444" cy="36933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Profil </a:t>
            </a:r>
            <a:r>
              <a:rPr lang="fr-FR">
                <a:solidFill>
                  <a:schemeClr val="accent2"/>
                </a:solidFill>
              </a:rPr>
              <a:t>Détaillé</a:t>
            </a:r>
          </a:p>
        </p:txBody>
      </p:sp>
    </p:spTree>
    <p:extLst>
      <p:ext uri="{BB962C8B-B14F-4D97-AF65-F5344CB8AC3E}">
        <p14:creationId xmlns:p14="http://schemas.microsoft.com/office/powerpoint/2010/main" val="2631831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43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8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0000"/>
        </a:lnSpc>
        <a:spcBef>
          <a:spcPts val="800"/>
        </a:spcBef>
        <a:buFont typeface="Graphik" panose="020B0503030202060203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6">
          <p15:clr>
            <a:srgbClr val="5ACBF0"/>
          </p15:clr>
        </p15:guide>
        <p15:guide id="24" pos="7439">
          <p15:clr>
            <a:srgbClr val="5ACBF0"/>
          </p15:clr>
        </p15:guide>
        <p15:guide id="25" orient="horz" pos="216">
          <p15:clr>
            <a:srgbClr val="5ACBF0"/>
          </p15:clr>
        </p15:guide>
        <p15:guide id="26" orient="horz" pos="4200">
          <p15:clr>
            <a:srgbClr val="5ACBF0"/>
          </p15:clr>
        </p15:guide>
        <p15:guide id="27" orient="horz" pos="4084">
          <p15:clr>
            <a:srgbClr val="5ACBF0"/>
          </p15:clr>
        </p15:guide>
        <p15:guide id="28" orient="horz" pos="552">
          <p15:clr>
            <a:srgbClr val="9FCC3B"/>
          </p15:clr>
        </p15:guide>
        <p15:guide id="29" orient="horz" pos="3806">
          <p15:clr>
            <a:srgbClr val="C35EA4"/>
          </p15:clr>
        </p15:guide>
        <p15:guide id="30" orient="horz" pos="911">
          <p15:clr>
            <a:srgbClr val="9FCC3B"/>
          </p15:clr>
        </p15:guide>
        <p15:guide id="31" orient="horz" pos="1082">
          <p15:clr>
            <a:srgbClr val="9FCC3B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7E12BE85-F254-450D-A88B-5B1562465F9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9852091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75" imgH="476" progId="TCLayout.ActiveDocument.1">
                  <p:embed/>
                </p:oleObj>
              </mc:Choice>
              <mc:Fallback>
                <p:oleObj name="think-cell Slide" r:id="rId15" imgW="475" imgH="47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7E12BE85-F254-450D-A88B-5B1562465F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 hidden="1">
            <a:extLst>
              <a:ext uri="{FF2B5EF4-FFF2-40B4-BE49-F238E27FC236}">
                <a16:creationId xmlns:a16="http://schemas.microsoft.com/office/drawing/2014/main" id="{ECC37712-52BF-4F9F-A95F-7FF4C27C542A}"/>
              </a:ext>
            </a:extLst>
          </p:cNvPr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600" b="0" i="0" baseline="0">
              <a:latin typeface="Graphik Black" panose="020B0A03030202060203" pitchFamily="34" charset="0"/>
              <a:ea typeface="+mj-ea"/>
              <a:cs typeface="+mj-cs"/>
              <a:sym typeface="Graphik Black" panose="020B0A03030202060203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C643AA0-9C3C-4E64-A992-B7A8A2CAF9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2" y="6529169"/>
            <a:ext cx="304799" cy="206375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4812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2" r:id="rId1"/>
    <p:sldLayoutId id="2147484333" r:id="rId2"/>
    <p:sldLayoutId id="2147484334" r:id="rId3"/>
    <p:sldLayoutId id="2147484335" r:id="rId4"/>
    <p:sldLayoutId id="2147484336" r:id="rId5"/>
    <p:sldLayoutId id="2147484337" r:id="rId6"/>
    <p:sldLayoutId id="2147484338" r:id="rId7"/>
    <p:sldLayoutId id="2147484339" r:id="rId8"/>
    <p:sldLayoutId id="2147484340" r:id="rId9"/>
    <p:sldLayoutId id="2147484341" r:id="rId10"/>
    <p:sldLayoutId id="2147484342" r:id="rId11"/>
  </p:sldLayoutIdLst>
  <p:hf hdr="0" ft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600" b="0" kern="1200" cap="all" baseline="0">
          <a:solidFill>
            <a:schemeClr val="tx1"/>
          </a:solidFill>
          <a:latin typeface="Graphik Black" panose="020B0A03030202060203" pitchFamily="34" charset="0"/>
          <a:ea typeface="+mj-ea"/>
          <a:cs typeface="+mj-cs"/>
        </a:defRPr>
      </a:lvl1pPr>
    </p:titleStyle>
    <p:bodyStyle>
      <a:lvl1pPr marL="55561" indent="0" algn="l" defTabSz="914377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b="0" kern="1200" cap="none" baseline="0">
          <a:solidFill>
            <a:schemeClr val="tx1"/>
          </a:solidFill>
          <a:latin typeface="Graphik Black" panose="020B0A03030202060203" pitchFamily="34" charset="0"/>
          <a:ea typeface="+mn-ea"/>
          <a:cs typeface="+mn-cs"/>
        </a:defRPr>
      </a:lvl1pPr>
      <a:lvl2pPr marL="285744" indent="-230182" algn="l" defTabSz="914377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raphik Black" panose="020B0A03030202060203" pitchFamily="34" charset="0"/>
          <a:ea typeface="+mn-ea"/>
          <a:cs typeface="Arial" panose="020B0604020202020204" pitchFamily="34" charset="0"/>
        </a:defRPr>
      </a:lvl2pPr>
      <a:lvl3pPr marL="514338" indent="-230182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Graphik" panose="020B0503030202060203" pitchFamily="34" charset="0"/>
          <a:ea typeface="+mn-ea"/>
          <a:cs typeface="Arial" panose="020B0604020202020204" pitchFamily="34" charset="0"/>
        </a:defRPr>
      </a:lvl3pPr>
      <a:lvl4pPr marL="685783" indent="-17144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29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674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61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61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61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>
          <p15:clr>
            <a:srgbClr val="F26B43"/>
          </p15:clr>
        </p15:guide>
        <p15:guide id="2" pos="5640">
          <p15:clr>
            <a:srgbClr val="F26B43"/>
          </p15:clr>
        </p15:guide>
        <p15:guide id="3">
          <p15:clr>
            <a:srgbClr val="F26B43"/>
          </p15:clr>
        </p15:guide>
        <p15:guide id="6" orient="horz">
          <p15:clr>
            <a:srgbClr val="F26B43"/>
          </p15:clr>
        </p15:guide>
        <p15:guide id="8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6" orient="horz" pos="240">
          <p15:clr>
            <a:srgbClr val="F26B43"/>
          </p15:clr>
        </p15:guide>
        <p15:guide id="17" orient="horz" pos="4104">
          <p15:clr>
            <a:srgbClr val="F26B43"/>
          </p15:clr>
        </p15:guide>
        <p15:guide id="18" orient="horz" pos="4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0DCB1-824A-B239-AAFE-0A685DBAB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BA409314-AD97-3608-626B-F4ADE686DA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5999" y="265492"/>
            <a:ext cx="3085376" cy="295466"/>
          </a:xfr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>
                <a:latin typeface="Graphik Black"/>
              </a:rPr>
              <a:t>I.B.K.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87A4DD6-50C6-B2B0-72D0-E595A4F6E793}"/>
              </a:ext>
            </a:extLst>
          </p:cNvPr>
          <p:cNvSpPr txBox="1">
            <a:spLocks/>
          </p:cNvSpPr>
          <p:nvPr/>
        </p:nvSpPr>
        <p:spPr>
          <a:xfrm>
            <a:off x="178790" y="1064142"/>
            <a:ext cx="3460703" cy="22711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marL="0" indent="0" algn="l" defTabSz="914377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kern="1200" cap="all" normalizeH="0" baseline="0">
                <a:solidFill>
                  <a:schemeClr val="bg1"/>
                </a:solidFill>
                <a:latin typeface="Graphik Black" panose="020B0A03030202060203" pitchFamily="34" charset="0"/>
                <a:ea typeface="+mn-ea"/>
                <a:cs typeface="+mn-cs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raphik Black" panose="020B0A03030202060203" pitchFamily="34" charset="0"/>
                <a:ea typeface="+mn-ea"/>
                <a:cs typeface="Arial" panose="020B0604020202020204" pitchFamily="34" charset="0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Arial" panose="020B0604020202020204" pitchFamily="34" charset="0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cap="none">
                <a:latin typeface="Graphik Black"/>
              </a:rPr>
              <a:t>Business Operations Analyst</a:t>
            </a:r>
            <a:r>
              <a:rPr lang="en-US" cap="none" dirty="0">
                <a:latin typeface="Graphik Black"/>
              </a:rPr>
              <a:t> 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E5606960-2FE8-3341-9CF3-0486C06ABAE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8897" y="1794190"/>
            <a:ext cx="3970214" cy="2372294"/>
          </a:xfrm>
        </p:spPr>
        <p:txBody>
          <a:bodyPr vert="horz" lIns="72000" tIns="91440" rIns="36000" bIns="45720" rtlCol="0" anchor="t">
            <a:noAutofit/>
          </a:bodyPr>
          <a:lstStyle/>
          <a:p>
            <a:pPr marL="55245"/>
            <a:r>
              <a:rPr lang="en-US" sz="1000" dirty="0">
                <a:latin typeface="Graphik"/>
              </a:rPr>
              <a:t>Avec 4 </a:t>
            </a:r>
            <a:r>
              <a:rPr lang="en-US" sz="1000" dirty="0" err="1">
                <a:latin typeface="Graphik"/>
              </a:rPr>
              <a:t>ans</a:t>
            </a:r>
            <a:r>
              <a:rPr lang="en-US" sz="1000" dirty="0">
                <a:latin typeface="Graphik"/>
              </a:rPr>
              <a:t> </a:t>
            </a:r>
            <a:r>
              <a:rPr lang="en-US" sz="1000" dirty="0" err="1">
                <a:latin typeface="Graphik"/>
              </a:rPr>
              <a:t>d’expérience</a:t>
            </a:r>
            <a:r>
              <a:rPr lang="en-US" sz="1000" dirty="0">
                <a:latin typeface="Graphik"/>
              </a:rPr>
              <a:t> </a:t>
            </a:r>
            <a:r>
              <a:rPr lang="en-US" sz="1000" dirty="0" err="1">
                <a:latin typeface="Graphik"/>
              </a:rPr>
              <a:t>en</a:t>
            </a:r>
            <a:r>
              <a:rPr lang="en-US" sz="1000" dirty="0">
                <a:latin typeface="Graphik"/>
              </a:rPr>
              <a:t> </a:t>
            </a:r>
            <a:r>
              <a:rPr lang="en-US" sz="1000" dirty="0" err="1">
                <a:latin typeface="Graphik"/>
              </a:rPr>
              <a:t>Gouvernance</a:t>
            </a:r>
            <a:r>
              <a:rPr lang="en-US" sz="1000" dirty="0">
                <a:latin typeface="Graphik"/>
              </a:rPr>
              <a:t>, </a:t>
            </a:r>
            <a:r>
              <a:rPr lang="en-US" sz="1000" dirty="0" err="1">
                <a:latin typeface="Graphik"/>
              </a:rPr>
              <a:t>Risques</a:t>
            </a:r>
            <a:r>
              <a:rPr lang="en-US" sz="1000" dirty="0">
                <a:latin typeface="Graphik"/>
              </a:rPr>
              <a:t> et </a:t>
            </a:r>
            <a:r>
              <a:rPr lang="en-US" sz="1000" dirty="0" err="1">
                <a:latin typeface="Graphik"/>
              </a:rPr>
              <a:t>Conformité</a:t>
            </a:r>
            <a:r>
              <a:rPr lang="en-US" sz="1000" dirty="0">
                <a:latin typeface="Graphik"/>
              </a:rPr>
              <a:t> (GRC), I.B.K a </a:t>
            </a:r>
            <a:r>
              <a:rPr lang="en-US" sz="1000" dirty="0" err="1">
                <a:latin typeface="Graphik"/>
              </a:rPr>
              <a:t>contribué</a:t>
            </a:r>
            <a:r>
              <a:rPr lang="en-US" sz="1000" dirty="0">
                <a:latin typeface="Graphik"/>
              </a:rPr>
              <a:t> à la </a:t>
            </a:r>
            <a:r>
              <a:rPr lang="en-US" sz="1000" dirty="0" err="1">
                <a:latin typeface="Graphik"/>
              </a:rPr>
              <a:t>digitalisation</a:t>
            </a:r>
            <a:r>
              <a:rPr lang="en-US" sz="1000" dirty="0">
                <a:latin typeface="Graphik"/>
              </a:rPr>
              <a:t> des </a:t>
            </a:r>
            <a:r>
              <a:rPr lang="en-US" sz="1000" dirty="0" err="1">
                <a:latin typeface="Graphik"/>
              </a:rPr>
              <a:t>outils</a:t>
            </a:r>
            <a:r>
              <a:rPr lang="en-US" sz="1000" dirty="0">
                <a:latin typeface="Graphik"/>
              </a:rPr>
              <a:t> de gestion des </a:t>
            </a:r>
            <a:r>
              <a:rPr lang="en-US" sz="1000" dirty="0" err="1">
                <a:latin typeface="Graphik"/>
              </a:rPr>
              <a:t>risques</a:t>
            </a:r>
            <a:r>
              <a:rPr lang="en-US" sz="1000" dirty="0">
                <a:latin typeface="Graphik"/>
              </a:rPr>
              <a:t> et à </a:t>
            </a:r>
            <a:r>
              <a:rPr lang="en-US" sz="1000" dirty="0" err="1">
                <a:latin typeface="Graphik"/>
              </a:rPr>
              <a:t>l’automatisation</a:t>
            </a:r>
            <a:r>
              <a:rPr lang="en-US" sz="1000" dirty="0">
                <a:latin typeface="Graphik"/>
              </a:rPr>
              <a:t> des processus au sein </a:t>
            </a:r>
            <a:r>
              <a:rPr lang="en-US" sz="1000" dirty="0" err="1">
                <a:latin typeface="Graphik"/>
              </a:rPr>
              <a:t>d’organisations</a:t>
            </a:r>
            <a:r>
              <a:rPr lang="en-US" sz="1000" dirty="0">
                <a:latin typeface="Graphik"/>
              </a:rPr>
              <a:t> des </a:t>
            </a:r>
            <a:r>
              <a:rPr lang="en-US" sz="1000" dirty="0" err="1">
                <a:latin typeface="Graphik"/>
              </a:rPr>
              <a:t>secteurs</a:t>
            </a:r>
            <a:r>
              <a:rPr lang="en-US" sz="1000" dirty="0">
                <a:latin typeface="Graphik"/>
              </a:rPr>
              <a:t> public, financier et </a:t>
            </a:r>
            <a:r>
              <a:rPr lang="en-US" sz="1000" dirty="0" err="1">
                <a:latin typeface="Graphik"/>
              </a:rPr>
              <a:t>assurantiel</a:t>
            </a:r>
            <a:r>
              <a:rPr lang="en-US" sz="1000" dirty="0">
                <a:latin typeface="Graphik"/>
              </a:rPr>
              <a:t>.</a:t>
            </a:r>
            <a:endParaRPr lang="en-US" dirty="0"/>
          </a:p>
          <a:p>
            <a:pPr marL="55245"/>
            <a:r>
              <a:rPr lang="en-US" sz="1000" dirty="0" err="1">
                <a:latin typeface="Graphik"/>
              </a:rPr>
              <a:t>Diplômée</a:t>
            </a:r>
            <a:r>
              <a:rPr lang="en-US" sz="1000" dirty="0">
                <a:latin typeface="Graphik"/>
              </a:rPr>
              <a:t> </a:t>
            </a:r>
            <a:r>
              <a:rPr lang="en-US" sz="1000" dirty="0" err="1">
                <a:latin typeface="Graphik"/>
              </a:rPr>
              <a:t>en</a:t>
            </a:r>
            <a:r>
              <a:rPr lang="en-US" sz="1000" dirty="0">
                <a:latin typeface="Graphik"/>
              </a:rPr>
              <a:t> </a:t>
            </a:r>
            <a:r>
              <a:rPr lang="en-US" sz="1000" b="1" dirty="0">
                <a:latin typeface="Graphik"/>
              </a:rPr>
              <a:t>Expert </a:t>
            </a:r>
            <a:r>
              <a:rPr lang="en-US" sz="1000" b="1" dirty="0" err="1">
                <a:latin typeface="Graphik"/>
              </a:rPr>
              <a:t>informatique</a:t>
            </a:r>
            <a:r>
              <a:rPr lang="en-US" sz="1000" b="1" dirty="0">
                <a:latin typeface="Graphik"/>
              </a:rPr>
              <a:t> et </a:t>
            </a:r>
            <a:r>
              <a:rPr lang="en-US" sz="1000" b="1" dirty="0" err="1">
                <a:latin typeface="Graphik"/>
              </a:rPr>
              <a:t>systèmes</a:t>
            </a:r>
            <a:r>
              <a:rPr lang="en-US" sz="1000" b="1" dirty="0">
                <a:latin typeface="Graphik"/>
              </a:rPr>
              <a:t> </a:t>
            </a:r>
            <a:r>
              <a:rPr lang="en-US" sz="1000" b="1" dirty="0" err="1">
                <a:latin typeface="Graphik"/>
              </a:rPr>
              <a:t>d'information</a:t>
            </a:r>
            <a:r>
              <a:rPr lang="en-US" sz="1000" dirty="0">
                <a:latin typeface="Graphik"/>
              </a:rPr>
              <a:t>, </a:t>
            </a:r>
            <a:r>
              <a:rPr lang="en-US" sz="1000" dirty="0" err="1">
                <a:latin typeface="Graphik"/>
              </a:rPr>
              <a:t>elle</a:t>
            </a:r>
            <a:r>
              <a:rPr lang="en-US" sz="1000" dirty="0">
                <a:latin typeface="Graphik"/>
              </a:rPr>
              <a:t> </a:t>
            </a:r>
            <a:r>
              <a:rPr lang="en-US" sz="1000" dirty="0" err="1">
                <a:latin typeface="Graphik"/>
              </a:rPr>
              <a:t>mobilise</a:t>
            </a:r>
            <a:r>
              <a:rPr lang="en-US" sz="1000" dirty="0">
                <a:latin typeface="Graphik"/>
              </a:rPr>
              <a:t> à la </a:t>
            </a:r>
            <a:r>
              <a:rPr lang="en-US" sz="1000" dirty="0" err="1">
                <a:latin typeface="Graphik"/>
              </a:rPr>
              <a:t>fois</a:t>
            </a:r>
            <a:r>
              <a:rPr lang="en-US" sz="1000" dirty="0">
                <a:latin typeface="Graphik"/>
              </a:rPr>
              <a:t> </a:t>
            </a:r>
            <a:r>
              <a:rPr lang="en-US" sz="1000" dirty="0" err="1">
                <a:latin typeface="Graphik"/>
              </a:rPr>
              <a:t>ses</a:t>
            </a:r>
            <a:r>
              <a:rPr lang="en-US" sz="1000" dirty="0">
                <a:latin typeface="Graphik"/>
              </a:rPr>
              <a:t> </a:t>
            </a:r>
            <a:r>
              <a:rPr lang="en-US" sz="1000" dirty="0" err="1">
                <a:latin typeface="Graphik"/>
              </a:rPr>
              <a:t>compétences</a:t>
            </a:r>
            <a:r>
              <a:rPr lang="en-US" sz="1000" dirty="0">
                <a:latin typeface="Graphik"/>
              </a:rPr>
              <a:t> techniques et </a:t>
            </a:r>
            <a:r>
              <a:rPr lang="en-US" sz="1000" dirty="0" err="1">
                <a:latin typeface="Graphik"/>
              </a:rPr>
              <a:t>sa</a:t>
            </a:r>
            <a:r>
              <a:rPr lang="en-US" sz="1000" dirty="0">
                <a:latin typeface="Graphik"/>
              </a:rPr>
              <a:t> </a:t>
            </a:r>
            <a:r>
              <a:rPr lang="en-US" sz="1000" dirty="0" err="1">
                <a:latin typeface="Graphik"/>
              </a:rPr>
              <a:t>sensibilité</a:t>
            </a:r>
            <a:r>
              <a:rPr lang="en-US" sz="1000" dirty="0">
                <a:latin typeface="Graphik"/>
              </a:rPr>
              <a:t> </a:t>
            </a:r>
            <a:r>
              <a:rPr lang="en-US" sz="1000" dirty="0" err="1">
                <a:latin typeface="Graphik"/>
              </a:rPr>
              <a:t>fonctionnelle</a:t>
            </a:r>
            <a:r>
              <a:rPr lang="en-US" sz="1000" dirty="0">
                <a:latin typeface="Graphik"/>
              </a:rPr>
              <a:t> pour </a:t>
            </a:r>
            <a:r>
              <a:rPr lang="en-US" sz="1000" dirty="0" err="1">
                <a:latin typeface="Graphik"/>
              </a:rPr>
              <a:t>développer</a:t>
            </a:r>
            <a:r>
              <a:rPr lang="en-US" sz="1000" dirty="0">
                <a:latin typeface="Graphik"/>
              </a:rPr>
              <a:t> des rapports </a:t>
            </a:r>
            <a:r>
              <a:rPr lang="en-US" sz="1000" dirty="0" err="1">
                <a:latin typeface="Graphik"/>
              </a:rPr>
              <a:t>décisionnels</a:t>
            </a:r>
            <a:r>
              <a:rPr lang="en-US" sz="1000" dirty="0">
                <a:latin typeface="Graphik"/>
              </a:rPr>
              <a:t>, </a:t>
            </a:r>
            <a:r>
              <a:rPr lang="en-US" sz="1000" dirty="0" err="1">
                <a:latin typeface="Graphik"/>
              </a:rPr>
              <a:t>configurer</a:t>
            </a:r>
            <a:r>
              <a:rPr lang="en-US" sz="1000" dirty="0">
                <a:latin typeface="Graphik"/>
              </a:rPr>
              <a:t> des </a:t>
            </a:r>
            <a:r>
              <a:rPr lang="en-US" sz="1000" dirty="0" err="1">
                <a:latin typeface="Graphik"/>
              </a:rPr>
              <a:t>systèmes</a:t>
            </a:r>
            <a:r>
              <a:rPr lang="en-US" sz="1000" dirty="0">
                <a:latin typeface="Graphik"/>
              </a:rPr>
              <a:t> </a:t>
            </a:r>
            <a:r>
              <a:rPr lang="en-US" sz="1000" dirty="0" err="1">
                <a:latin typeface="Graphik"/>
              </a:rPr>
              <a:t>d'information</a:t>
            </a:r>
            <a:r>
              <a:rPr lang="en-US" sz="1000" dirty="0">
                <a:latin typeface="Graphik"/>
              </a:rPr>
              <a:t>, et </a:t>
            </a:r>
            <a:r>
              <a:rPr lang="en-US" sz="1000" dirty="0" err="1">
                <a:latin typeface="Graphik"/>
              </a:rPr>
              <a:t>accompagner</a:t>
            </a:r>
            <a:r>
              <a:rPr lang="en-US" sz="1000" dirty="0">
                <a:latin typeface="Graphik"/>
              </a:rPr>
              <a:t> les </a:t>
            </a:r>
            <a:r>
              <a:rPr lang="en-US" sz="1000" dirty="0" err="1">
                <a:latin typeface="Graphik"/>
              </a:rPr>
              <a:t>utilisateurs</a:t>
            </a:r>
            <a:r>
              <a:rPr lang="en-US" sz="1000" dirty="0">
                <a:latin typeface="Graphik"/>
              </a:rPr>
              <a:t> dans </a:t>
            </a:r>
            <a:r>
              <a:rPr lang="en-US" sz="1000" dirty="0" err="1">
                <a:latin typeface="Graphik"/>
              </a:rPr>
              <a:t>leur</a:t>
            </a:r>
            <a:r>
              <a:rPr lang="en-US" sz="1000" dirty="0">
                <a:latin typeface="Graphik"/>
              </a:rPr>
              <a:t> adoption.</a:t>
            </a:r>
          </a:p>
          <a:p>
            <a:pPr marL="55245"/>
            <a:r>
              <a:rPr lang="en-US" sz="1000" dirty="0" err="1">
                <a:latin typeface="Graphik"/>
              </a:rPr>
              <a:t>Polyvalente</a:t>
            </a:r>
            <a:r>
              <a:rPr lang="en-US" sz="1000" dirty="0">
                <a:latin typeface="Graphik"/>
              </a:rPr>
              <a:t> et </a:t>
            </a:r>
            <a:r>
              <a:rPr lang="en-US" sz="1000" dirty="0" err="1">
                <a:latin typeface="Graphik"/>
              </a:rPr>
              <a:t>rigoureuse</a:t>
            </a:r>
            <a:r>
              <a:rPr lang="en-US" sz="1000" dirty="0">
                <a:latin typeface="Graphik"/>
              </a:rPr>
              <a:t>, I.B.K </a:t>
            </a:r>
            <a:r>
              <a:rPr lang="en-US" sz="1000" dirty="0" err="1">
                <a:latin typeface="Graphik"/>
              </a:rPr>
              <a:t>intervient</a:t>
            </a:r>
            <a:r>
              <a:rPr lang="en-US" sz="1000" dirty="0">
                <a:latin typeface="Graphik"/>
              </a:rPr>
              <a:t> sur des </a:t>
            </a:r>
            <a:r>
              <a:rPr lang="en-US" sz="1000" dirty="0" err="1">
                <a:latin typeface="Graphik"/>
              </a:rPr>
              <a:t>projets</a:t>
            </a:r>
            <a:r>
              <a:rPr lang="en-US" sz="1000" dirty="0">
                <a:latin typeface="Graphik"/>
              </a:rPr>
              <a:t> de bout </a:t>
            </a:r>
            <a:r>
              <a:rPr lang="en-US" sz="1000" dirty="0" err="1">
                <a:latin typeface="Graphik"/>
              </a:rPr>
              <a:t>en</a:t>
            </a:r>
            <a:r>
              <a:rPr lang="en-US" sz="1000" dirty="0">
                <a:latin typeface="Graphik"/>
              </a:rPr>
              <a:t> bout : de </a:t>
            </a:r>
            <a:r>
              <a:rPr lang="en-US" sz="1000" dirty="0" err="1">
                <a:latin typeface="Graphik"/>
              </a:rPr>
              <a:t>l’analyse</a:t>
            </a:r>
            <a:r>
              <a:rPr lang="en-US" sz="1000" dirty="0">
                <a:latin typeface="Graphik"/>
              </a:rPr>
              <a:t> des </a:t>
            </a:r>
            <a:r>
              <a:rPr lang="en-US" sz="1000" dirty="0" err="1">
                <a:latin typeface="Graphik"/>
              </a:rPr>
              <a:t>besoins</a:t>
            </a:r>
            <a:r>
              <a:rPr lang="en-US" sz="1000" dirty="0">
                <a:latin typeface="Graphik"/>
              </a:rPr>
              <a:t> métiers à la mise </a:t>
            </a:r>
            <a:r>
              <a:rPr lang="en-US" sz="1000" dirty="0" err="1">
                <a:latin typeface="Graphik"/>
              </a:rPr>
              <a:t>en</a:t>
            </a:r>
            <a:r>
              <a:rPr lang="en-US" sz="1000" dirty="0">
                <a:latin typeface="Graphik"/>
              </a:rPr>
              <a:t> place de tableaux de bord BI, </a:t>
            </a:r>
            <a:r>
              <a:rPr lang="en-US" sz="1000" dirty="0" err="1">
                <a:latin typeface="Graphik"/>
              </a:rPr>
              <a:t>en</a:t>
            </a:r>
            <a:r>
              <a:rPr lang="en-US" sz="1000" dirty="0">
                <a:latin typeface="Graphik"/>
              </a:rPr>
              <a:t> passant par la </a:t>
            </a:r>
            <a:r>
              <a:rPr lang="en-US" sz="1000" dirty="0" err="1">
                <a:latin typeface="Graphik"/>
              </a:rPr>
              <a:t>rédaction</a:t>
            </a:r>
            <a:r>
              <a:rPr lang="en-US" sz="1000" dirty="0">
                <a:latin typeface="Graphik"/>
              </a:rPr>
              <a:t> de </a:t>
            </a:r>
            <a:r>
              <a:rPr lang="en-US" sz="1000" dirty="0" err="1">
                <a:latin typeface="Graphik"/>
              </a:rPr>
              <a:t>spécifications</a:t>
            </a:r>
            <a:r>
              <a:rPr lang="en-US" sz="1000" dirty="0">
                <a:latin typeface="Graphik"/>
              </a:rPr>
              <a:t>, la </a:t>
            </a:r>
            <a:r>
              <a:rPr lang="en-US" sz="1000" dirty="0" err="1">
                <a:latin typeface="Graphik"/>
              </a:rPr>
              <a:t>sécurisation</a:t>
            </a:r>
            <a:r>
              <a:rPr lang="en-US" sz="1000" dirty="0">
                <a:latin typeface="Graphik"/>
              </a:rPr>
              <a:t> des données et la </a:t>
            </a:r>
            <a:r>
              <a:rPr lang="en-US" sz="1000" dirty="0" err="1">
                <a:latin typeface="Graphik"/>
              </a:rPr>
              <a:t>conduite</a:t>
            </a:r>
            <a:r>
              <a:rPr lang="en-US" sz="1000" dirty="0">
                <a:latin typeface="Graphik"/>
              </a:rPr>
              <a:t> de formations.</a:t>
            </a:r>
            <a:endParaRPr lang="en-US" sz="1100" dirty="0">
              <a:latin typeface="Graphik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FD27F86-5080-5C8C-6999-8100BCC657A4}"/>
              </a:ext>
            </a:extLst>
          </p:cNvPr>
          <p:cNvSpPr txBox="1"/>
          <p:nvPr/>
        </p:nvSpPr>
        <p:spPr>
          <a:xfrm>
            <a:off x="2118651" y="4452065"/>
            <a:ext cx="2228104" cy="15585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26695" indent="-171450" defTabSz="914377" fontAlgn="base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000" dirty="0" err="1">
                <a:latin typeface="Graphik"/>
              </a:rPr>
              <a:t>Logiciel</a:t>
            </a:r>
            <a:r>
              <a:rPr lang="en-US" sz="1000" dirty="0">
                <a:latin typeface="Graphik"/>
              </a:rPr>
              <a:t> de </a:t>
            </a:r>
            <a:r>
              <a:rPr lang="en-US" sz="1000" dirty="0" err="1">
                <a:latin typeface="Graphik"/>
              </a:rPr>
              <a:t>bureautique</a:t>
            </a:r>
            <a:r>
              <a:rPr lang="en-US" sz="1000" dirty="0">
                <a:latin typeface="Graphik"/>
              </a:rPr>
              <a:t> : Excel, Word, PowerPoint.</a:t>
            </a:r>
            <a:endParaRPr lang="en-US" dirty="0"/>
          </a:p>
          <a:p>
            <a:pPr marL="226695" indent="-171450" defTabSz="914377" fontAlgn="base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000" dirty="0" err="1">
                <a:latin typeface="Graphik"/>
              </a:rPr>
              <a:t>Langages</a:t>
            </a:r>
            <a:r>
              <a:rPr lang="en-US" sz="1000" dirty="0">
                <a:latin typeface="Graphik"/>
              </a:rPr>
              <a:t> : Python, SQL, </a:t>
            </a:r>
            <a:r>
              <a:rPr lang="en-US" sz="1000" dirty="0" err="1">
                <a:latin typeface="Graphik"/>
              </a:rPr>
              <a:t>JavaScript,VBA</a:t>
            </a:r>
            <a:r>
              <a:rPr lang="en-US" sz="1000" dirty="0">
                <a:latin typeface="Graphik"/>
              </a:rPr>
              <a:t>.</a:t>
            </a:r>
          </a:p>
          <a:p>
            <a:pPr marL="226695" indent="-171450" defTabSz="914377" fontAlgn="base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Graphik"/>
              </a:rPr>
              <a:t>Data &amp; Big data : Power BI, </a:t>
            </a:r>
            <a:r>
              <a:rPr lang="en-US" sz="1000">
                <a:latin typeface="Graphik"/>
              </a:rPr>
              <a:t>Hadoop, Cloud</a:t>
            </a:r>
            <a:endParaRPr lang="en-US" sz="1000" dirty="0">
              <a:latin typeface="Graphik"/>
            </a:endParaRPr>
          </a:p>
          <a:p>
            <a:pPr marL="226695" indent="-171450" defTabSz="914377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100">
                <a:latin typeface="Segoe UI"/>
                <a:cs typeface="Segoe UI"/>
              </a:rPr>
              <a:t>Automation: Power Automate, RPA</a:t>
            </a:r>
            <a:endParaRPr lang="en-US" sz="1000" dirty="0">
              <a:latin typeface="Graphik"/>
            </a:endParaRPr>
          </a:p>
          <a:p>
            <a:pPr marL="226695" indent="-171450" defTabSz="914377" fontAlgn="base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Graphik"/>
              </a:rPr>
              <a:t>SIGR: </a:t>
            </a:r>
            <a:r>
              <a:rPr lang="en-US" sz="1000" dirty="0" err="1">
                <a:latin typeface="Graphik"/>
              </a:rPr>
              <a:t>eFront</a:t>
            </a:r>
            <a:r>
              <a:rPr lang="en-US" sz="1000" dirty="0">
                <a:latin typeface="Graphik"/>
              </a:rPr>
              <a:t> ERM &amp; </a:t>
            </a:r>
            <a:r>
              <a:rPr lang="en-US" sz="1000" dirty="0" err="1">
                <a:latin typeface="Graphik"/>
              </a:rPr>
              <a:t>eFrontAnalytics</a:t>
            </a:r>
            <a:endParaRPr lang="en-US" sz="1000">
              <a:latin typeface="Graphik"/>
            </a:endParaRPr>
          </a:p>
          <a:p>
            <a:pPr marL="226695" indent="-171450" defTabSz="914377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000">
                <a:latin typeface="Graphik"/>
              </a:rPr>
              <a:t>Agentic AI</a:t>
            </a:r>
            <a:endParaRPr lang="en-US" sz="1000" dirty="0">
              <a:latin typeface="Graphik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C3488E-022E-407D-1F89-C426EA51B347}"/>
              </a:ext>
            </a:extLst>
          </p:cNvPr>
          <p:cNvSpPr/>
          <p:nvPr/>
        </p:nvSpPr>
        <p:spPr>
          <a:xfrm rot="1525758">
            <a:off x="10076348" y="170992"/>
            <a:ext cx="1806157" cy="4844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FR ANONYMIS</a:t>
            </a: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Calibri" panose="020F0502020204030204" pitchFamily="34" charset="0"/>
                <a:cs typeface="Calibri" panose="020F0502020204030204" pitchFamily="34" charset="0"/>
              </a:rPr>
              <a:t>É</a:t>
            </a:r>
            <a:endParaRPr kumimoji="0" lang="en-GB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95FCAD6-6A04-82CF-3B0A-3D124DB6C223}"/>
              </a:ext>
            </a:extLst>
          </p:cNvPr>
          <p:cNvSpPr txBox="1"/>
          <p:nvPr/>
        </p:nvSpPr>
        <p:spPr>
          <a:xfrm>
            <a:off x="165999" y="6015885"/>
            <a:ext cx="1414884" cy="3539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27011" lvl="0" indent="-171450" defTabSz="914377" fontAlgn="base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000">
                <a:latin typeface="Graphik" panose="020B0503030202060203" pitchFamily="34" charset="0"/>
              </a:rPr>
              <a:t>Banque</a:t>
            </a:r>
          </a:p>
          <a:p>
            <a:pPr marL="227011" lvl="0" indent="-171450" defTabSz="914377" fontAlgn="base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000">
                <a:latin typeface="Graphik" panose="020B0503030202060203" pitchFamily="34" charset="0"/>
              </a:rPr>
              <a:t>Assurance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EE308F-F36A-13F2-1684-A18D39EF3EFA}"/>
              </a:ext>
            </a:extLst>
          </p:cNvPr>
          <p:cNvSpPr/>
          <p:nvPr/>
        </p:nvSpPr>
        <p:spPr>
          <a:xfrm>
            <a:off x="4346755" y="450025"/>
            <a:ext cx="7320637" cy="664464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lvl="1">
              <a:defRPr/>
            </a:pPr>
            <a:endParaRPr lang="fr-FR" sz="1100" b="1" i="1">
              <a:solidFill>
                <a:srgbClr val="7500C0"/>
              </a:solidFill>
              <a:latin typeface="Graphik"/>
              <a:cs typeface="Arial"/>
            </a:endParaRPr>
          </a:p>
          <a:p>
            <a:pPr marL="0" lvl="1">
              <a:lnSpc>
                <a:spcPct val="85000"/>
              </a:lnSpc>
              <a:defRPr/>
            </a:pPr>
            <a:r>
              <a:rPr lang="fr-FR" sz="1100" b="1" i="1" dirty="0">
                <a:solidFill>
                  <a:srgbClr val="7500C0"/>
                </a:solidFill>
                <a:latin typeface="Calibri"/>
                <a:ea typeface="Calibri"/>
                <a:cs typeface="Calibri"/>
              </a:rPr>
              <a:t>BUSINESS ANALYSTE – </a:t>
            </a:r>
            <a:r>
              <a:rPr lang="fr-FR" sz="1100" b="1" i="1">
                <a:solidFill>
                  <a:srgbClr val="7500C0"/>
                </a:solidFill>
                <a:latin typeface="Calibri"/>
                <a:ea typeface="Calibri"/>
                <a:cs typeface="Calibri"/>
              </a:rPr>
              <a:t>MUTUELLE ASSURANCE </a:t>
            </a:r>
            <a:endParaRPr lang="en-US" sz="1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lvl="1">
              <a:lnSpc>
                <a:spcPct val="85000"/>
              </a:lnSpc>
              <a:defRPr/>
            </a:pPr>
            <a:endParaRPr lang="fr-FR" sz="1100" b="1" i="1" dirty="0">
              <a:solidFill>
                <a:srgbClr val="7500C0"/>
              </a:solidFill>
              <a:latin typeface="Calibri"/>
              <a:ea typeface="Calibri"/>
              <a:cs typeface="Calibri"/>
            </a:endParaRP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Upgrade d'un outil de gestion des risques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Animation de workshops métiers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 dirty="0" err="1">
                <a:solidFill>
                  <a:srgbClr val="000000"/>
                </a:solidFill>
                <a:latin typeface="Graphik"/>
                <a:cs typeface="Arial"/>
              </a:rPr>
              <a:t>Cadrage,analyse</a:t>
            </a:r>
            <a:r>
              <a:rPr lang="fr-FR" sz="1100" dirty="0">
                <a:solidFill>
                  <a:srgbClr val="000000"/>
                </a:solidFill>
                <a:latin typeface="Graphik"/>
                <a:cs typeface="Arial"/>
              </a:rPr>
              <a:t> et structuration des besoins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Modélisation des processus et des données (data model, mapping SQL)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Rédaction de spécifications fonctionnelles détaillées (FR / EN)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Conception et exécution des tests fonctionnels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Gestion des anomalies et suivi Jira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Formation utilisateurs et support post-déploiement</a:t>
            </a:r>
          </a:p>
          <a:p>
            <a:pPr marL="0" lvl="1">
              <a:lnSpc>
                <a:spcPct val="85000"/>
              </a:lnSpc>
              <a:defRPr/>
            </a:pPr>
            <a:endParaRPr lang="fr-FR" sz="1100" b="1" dirty="0">
              <a:solidFill>
                <a:srgbClr val="7500C0"/>
              </a:solidFill>
              <a:latin typeface="Segoe UI"/>
              <a:ea typeface="Calibri"/>
              <a:cs typeface="Segoe UI"/>
            </a:endParaRPr>
          </a:p>
          <a:p>
            <a:pPr marL="0" lvl="1">
              <a:lnSpc>
                <a:spcPct val="85000"/>
              </a:lnSpc>
              <a:defRPr/>
            </a:pPr>
            <a:r>
              <a:rPr lang="fr-FR" sz="1100" b="1">
                <a:solidFill>
                  <a:srgbClr val="7500C0"/>
                </a:solidFill>
                <a:latin typeface="Segoe UI"/>
                <a:ea typeface="Calibri"/>
                <a:cs typeface="Segoe UI"/>
              </a:rPr>
              <a:t>Conception d’un Robot de Tests Automatisés</a:t>
            </a:r>
            <a:endParaRPr lang="fr-FR" b="1"/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Conception et développement d’un robot de tests automatisés (RPA, Python)</a:t>
            </a:r>
            <a:endParaRPr lang="en-US" sz="1100" dirty="0">
              <a:solidFill>
                <a:srgbClr val="000000"/>
              </a:solidFill>
              <a:latin typeface="Segoe UI"/>
              <a:ea typeface="Calibri"/>
              <a:cs typeface="Segoe UI"/>
            </a:endParaRP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Automatisation des tests fonctionnels sur l'</a:t>
            </a:r>
            <a:r>
              <a:rPr lang="fr-FR" sz="11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outil </a:t>
            </a:r>
            <a:r>
              <a:rPr lang="fr-FR" sz="11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eFrontERM</a:t>
            </a:r>
            <a:endParaRPr lang="fr-FR" sz="1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Rédaction des scénarios de test basés sur des spécifications fonctionnelles 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Amélioration de la qualité applicative et détection des anomalies de paramétrage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endParaRPr lang="fr-FR" sz="1100" dirty="0">
              <a:solidFill>
                <a:srgbClr val="000000"/>
              </a:solidFill>
              <a:latin typeface="Segoe UI"/>
              <a:ea typeface="Calibri"/>
              <a:cs typeface="Segoe UI"/>
            </a:endParaRPr>
          </a:p>
          <a:p>
            <a:pPr marL="0" lvl="1">
              <a:lnSpc>
                <a:spcPct val="85000"/>
              </a:lnSpc>
              <a:defRPr/>
            </a:pPr>
            <a:endParaRPr lang="fr-FR" sz="1100" b="1" i="1" dirty="0">
              <a:solidFill>
                <a:srgbClr val="7500C0"/>
              </a:solidFill>
              <a:ea typeface="Calibri"/>
              <a:cs typeface="Arial"/>
            </a:endParaRPr>
          </a:p>
          <a:p>
            <a:pPr marL="0" lvl="1">
              <a:lnSpc>
                <a:spcPct val="85000"/>
              </a:lnSpc>
              <a:defRPr/>
            </a:pPr>
            <a:r>
              <a:rPr lang="fr-FR" sz="1100" b="1" i="1">
                <a:solidFill>
                  <a:srgbClr val="7500C0"/>
                </a:solidFill>
                <a:cs typeface="Arial"/>
              </a:rPr>
              <a:t>ACCOMPAGNEMENT AMOA EFRONT-ERM– GESTIONNAIRE D’ACTIF/EPARGNE</a:t>
            </a:r>
            <a:endParaRPr lang="fr-FR"/>
          </a:p>
          <a:p>
            <a:pPr marL="171450" lvl="1" indent="-17145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srgbClr val="000000"/>
                </a:solidFill>
                <a:latin typeface="Graphik"/>
                <a:cs typeface="Arial"/>
              </a:rPr>
              <a:t>Accompagnement du client dans l’administration et maintenance de l’outil </a:t>
            </a:r>
            <a:r>
              <a:rPr lang="fr-FR" sz="1100" dirty="0" err="1">
                <a:solidFill>
                  <a:srgbClr val="000000"/>
                </a:solidFill>
                <a:latin typeface="Graphik"/>
                <a:cs typeface="Arial"/>
              </a:rPr>
              <a:t>eFrontERM</a:t>
            </a:r>
            <a:endParaRPr lang="fr-FR" sz="1100">
              <a:solidFill>
                <a:srgbClr val="000000"/>
              </a:solidFill>
              <a:latin typeface="Graphik"/>
              <a:cs typeface="Arial"/>
            </a:endParaRPr>
          </a:p>
          <a:p>
            <a:pPr marL="171450" lvl="1" indent="-17145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srgbClr val="000000"/>
                </a:solidFill>
                <a:latin typeface="Graphik"/>
                <a:cs typeface="Arial"/>
              </a:rPr>
              <a:t>Support des utilisateurs finaux</a:t>
            </a:r>
          </a:p>
          <a:p>
            <a:pPr marL="171450" lvl="1" indent="-17145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srgbClr val="000000"/>
                </a:solidFill>
                <a:latin typeface="Graphik"/>
                <a:cs typeface="Arial"/>
              </a:rPr>
              <a:t>Collecte et qualification des anomalies / évolutions</a:t>
            </a:r>
          </a:p>
          <a:p>
            <a:pPr marL="171450" lvl="1" indent="-17145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srgbClr val="000000"/>
                </a:solidFill>
                <a:latin typeface="Graphik"/>
                <a:cs typeface="Arial"/>
              </a:rPr>
              <a:t>Ateliers d’expression de besoin avec les métiers</a:t>
            </a:r>
          </a:p>
          <a:p>
            <a:pPr marL="171450" lvl="1" indent="-17145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srgbClr val="000000"/>
                </a:solidFill>
                <a:latin typeface="Graphik"/>
                <a:cs typeface="Arial"/>
              </a:rPr>
              <a:t>Formations, gestion de la documentation</a:t>
            </a:r>
          </a:p>
          <a:p>
            <a:pPr marL="171450" lvl="1" indent="-17145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srgbClr val="000000"/>
                </a:solidFill>
                <a:latin typeface="Graphik"/>
                <a:cs typeface="Arial"/>
              </a:rPr>
              <a:t>Organisation des recettes et déploiements en production</a:t>
            </a:r>
          </a:p>
          <a:p>
            <a:pPr marL="0" lvl="1">
              <a:defRPr/>
            </a:pPr>
            <a:endParaRPr lang="fr-FR" sz="1100" b="1" i="1">
              <a:solidFill>
                <a:srgbClr val="7500C0"/>
              </a:solidFill>
              <a:latin typeface="Graphik"/>
              <a:cs typeface="Arial"/>
            </a:endParaRPr>
          </a:p>
          <a:p>
            <a:pPr marL="0" lvl="1">
              <a:lnSpc>
                <a:spcPct val="85000"/>
              </a:lnSpc>
              <a:defRPr/>
            </a:pPr>
            <a:r>
              <a:rPr lang="fr-FR" sz="1100" b="1" i="1" dirty="0">
                <a:solidFill>
                  <a:srgbClr val="7500C0"/>
                </a:solidFill>
                <a:latin typeface="Graphik"/>
                <a:cs typeface="Arial"/>
              </a:rPr>
              <a:t>IMPLEMENTATION EFRONT-ERM – COMPAGNIE D’ASSURANCE INTERNATIONALE</a:t>
            </a:r>
          </a:p>
          <a:p>
            <a:pPr marL="171450" lvl="1" indent="-17145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srgbClr val="000000"/>
                </a:solidFill>
                <a:latin typeface="Graphik"/>
                <a:cs typeface="Arial"/>
              </a:rPr>
              <a:t>Participation aux ateliers avec les métiers</a:t>
            </a:r>
          </a:p>
          <a:p>
            <a:pPr marL="171450" lvl="1" indent="-17145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srgbClr val="000000"/>
                </a:solidFill>
                <a:latin typeface="Graphik"/>
                <a:cs typeface="Arial"/>
              </a:rPr>
              <a:t>Participation à la rédaction des comptes rendus</a:t>
            </a:r>
          </a:p>
          <a:p>
            <a:pPr marL="171450" lvl="1" indent="-17145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srgbClr val="000000"/>
                </a:solidFill>
                <a:latin typeface="Graphik"/>
                <a:cs typeface="Arial"/>
              </a:rPr>
              <a:t>Rédaction des spécifications</a:t>
            </a:r>
          </a:p>
          <a:p>
            <a:pPr marL="171450" lvl="1" indent="-17145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srgbClr val="000000"/>
                </a:solidFill>
                <a:latin typeface="Graphik"/>
                <a:cs typeface="Arial"/>
              </a:rPr>
              <a:t>Réalisation du paramétrage et des rapports des rapports</a:t>
            </a:r>
          </a:p>
          <a:p>
            <a:pPr marL="171450" lvl="1" indent="-17145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srgbClr val="000000"/>
                </a:solidFill>
                <a:latin typeface="Graphik"/>
                <a:cs typeface="Arial"/>
              </a:rPr>
              <a:t>Suivi des tickets &amp; correctifs</a:t>
            </a:r>
          </a:p>
          <a:p>
            <a:pPr marL="628650" lvl="1" indent="-171450">
              <a:buFont typeface="Arial" panose="05000000000000000000" pitchFamily="2" charset="2"/>
              <a:buChar char="•"/>
            </a:pPr>
            <a:endParaRPr lang="fr-FR" sz="1100">
              <a:latin typeface="Calibri"/>
              <a:ea typeface="Calibri"/>
              <a:cs typeface="Calibri"/>
            </a:endParaRPr>
          </a:p>
          <a:p>
            <a:pPr marL="0" lvl="1">
              <a:lnSpc>
                <a:spcPct val="85000"/>
              </a:lnSpc>
              <a:defRPr/>
            </a:pPr>
            <a:r>
              <a:rPr lang="fr-FR" sz="1100" b="1" i="1" dirty="0">
                <a:solidFill>
                  <a:srgbClr val="7500C0"/>
                </a:solidFill>
                <a:latin typeface="Graphik"/>
                <a:cs typeface="Arial"/>
              </a:rPr>
              <a:t>IMPLEMENTATION</a:t>
            </a:r>
            <a:r>
              <a:rPr lang="fr-FR" sz="1100" b="1" i="1" dirty="0">
                <a:solidFill>
                  <a:srgbClr val="7500C0"/>
                </a:solidFill>
                <a:cs typeface="Arial"/>
              </a:rPr>
              <a:t> EFRONT-ERM</a:t>
            </a:r>
            <a:r>
              <a:rPr lang="fr-FR" sz="1100" b="1" i="1" dirty="0">
                <a:solidFill>
                  <a:srgbClr val="7500C0"/>
                </a:solidFill>
                <a:latin typeface="Graphik"/>
                <a:cs typeface="Arial"/>
              </a:rPr>
              <a:t> - BANQUE</a:t>
            </a:r>
          </a:p>
          <a:p>
            <a:pPr marL="171450" lvl="1" indent="-17145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Rédaction des spécifications</a:t>
            </a:r>
          </a:p>
          <a:p>
            <a:pPr marL="171450" lvl="1" indent="-17145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srgbClr val="000000"/>
                </a:solidFill>
                <a:latin typeface="Graphik"/>
                <a:cs typeface="Arial"/>
              </a:rPr>
              <a:t>Paramétrage de la solution et mise en œuvre des fonctionnalités</a:t>
            </a:r>
          </a:p>
          <a:p>
            <a:pPr marL="171450" lvl="1" indent="-17145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srgbClr val="000000"/>
                </a:solidFill>
                <a:latin typeface="Graphik"/>
                <a:cs typeface="Arial"/>
              </a:rPr>
              <a:t>Mise en place des alertes techniques</a:t>
            </a:r>
          </a:p>
          <a:p>
            <a:pPr marL="171450" lvl="1" indent="-17145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Tests de qualification des paramétrages</a:t>
            </a:r>
            <a:br>
              <a:rPr lang="fr-FR" sz="1100" dirty="0">
                <a:latin typeface="Graphik"/>
                <a:cs typeface="Arial"/>
              </a:rPr>
            </a:br>
            <a:endParaRPr lang="fr-FR" sz="1100">
              <a:solidFill>
                <a:srgbClr val="000000"/>
              </a:solidFill>
              <a:latin typeface="Graphik"/>
              <a:cs typeface="Arial"/>
            </a:endParaRPr>
          </a:p>
          <a:p>
            <a:pPr marL="0" lvl="1">
              <a:lnSpc>
                <a:spcPct val="85000"/>
              </a:lnSpc>
              <a:defRPr/>
            </a:pPr>
            <a:r>
              <a:rPr lang="fr-FR" sz="1100" b="1" i="1" dirty="0">
                <a:solidFill>
                  <a:srgbClr val="7500C0"/>
                </a:solidFill>
                <a:latin typeface="Graphik"/>
                <a:cs typeface="Arial"/>
              </a:rPr>
              <a:t>EXPÉRIENCES ANTÉRIEURES</a:t>
            </a:r>
          </a:p>
          <a:p>
            <a:pPr marL="0" lvl="1">
              <a:lnSpc>
                <a:spcPct val="85000"/>
              </a:lnSpc>
              <a:defRPr/>
            </a:pPr>
            <a:r>
              <a:rPr lang="fr-FR" sz="1100" dirty="0">
                <a:solidFill>
                  <a:srgbClr val="000000"/>
                </a:solidFill>
                <a:latin typeface="Graphik"/>
                <a:cs typeface="Arial"/>
              </a:rPr>
              <a:t>Compagnie d’assurance française - CHARGÉE DE SURVEILLANCE PORTEFEUILLE ET ANALYSE DE DONNÉES</a:t>
            </a:r>
          </a:p>
          <a:p>
            <a:pPr marL="171450" lvl="1" indent="-17145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srgbClr val="000000"/>
                </a:solidFill>
                <a:latin typeface="Graphik"/>
                <a:cs typeface="Arial"/>
              </a:rPr>
              <a:t>Collection, agrégation et nettoyage de données</a:t>
            </a:r>
          </a:p>
          <a:p>
            <a:pPr marL="171450" lvl="1" indent="-17145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srgbClr val="000000"/>
                </a:solidFill>
                <a:latin typeface="Graphik"/>
                <a:cs typeface="Arial"/>
              </a:rPr>
              <a:t>Développement des analyses à l’aide des outils de Data Visualisation</a:t>
            </a:r>
          </a:p>
          <a:p>
            <a:pPr marL="171450" lvl="1" indent="-17145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fr-FR" sz="1100" dirty="0">
                <a:solidFill>
                  <a:srgbClr val="000000"/>
                </a:solidFill>
                <a:latin typeface="Graphik"/>
                <a:cs typeface="Arial"/>
              </a:rPr>
              <a:t>Création de </a:t>
            </a:r>
            <a:r>
              <a:rPr lang="fr-FR" sz="1100" dirty="0" err="1">
                <a:solidFill>
                  <a:srgbClr val="000000"/>
                </a:solidFill>
                <a:latin typeface="Graphik"/>
                <a:cs typeface="Arial"/>
              </a:rPr>
              <a:t>dashboards</a:t>
            </a:r>
            <a:r>
              <a:rPr lang="fr-FR" sz="1100" dirty="0">
                <a:solidFill>
                  <a:srgbClr val="000000"/>
                </a:solidFill>
                <a:latin typeface="Graphik"/>
                <a:cs typeface="Arial"/>
              </a:rPr>
              <a:t> et calcul des KPIs.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BA4F68-E414-EDBF-37AE-C4F7E906C9EF}"/>
              </a:ext>
            </a:extLst>
          </p:cNvPr>
          <p:cNvSpPr txBox="1"/>
          <p:nvPr/>
        </p:nvSpPr>
        <p:spPr>
          <a:xfrm>
            <a:off x="1" y="4460585"/>
            <a:ext cx="2039814" cy="10091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fr-FR"/>
            </a:defPPr>
            <a:lvl1pPr marL="227011" indent="-171450" defTabSz="914377" fontAlgn="base">
              <a:lnSpc>
                <a:spcPct val="85000"/>
              </a:lnSpc>
              <a:buFont typeface="Arial" panose="020B0604020202020204" pitchFamily="34" charset="0"/>
              <a:buChar char="•"/>
              <a:defRPr sz="1000">
                <a:latin typeface="Graphik" panose="020B0503030202060203" pitchFamily="34" charset="0"/>
              </a:defRPr>
            </a:lvl1pPr>
          </a:lstStyle>
          <a:p>
            <a:pPr marL="226695"/>
            <a:r>
              <a:rPr lang="en-US" dirty="0">
                <a:latin typeface="Graphik"/>
              </a:rPr>
              <a:t>MSc Data Science, Ecole de la double </a:t>
            </a:r>
            <a:r>
              <a:rPr lang="en-US" dirty="0" err="1">
                <a:latin typeface="Graphik"/>
              </a:rPr>
              <a:t>compétence</a:t>
            </a:r>
            <a:r>
              <a:rPr lang="en-US" dirty="0">
                <a:latin typeface="Graphik"/>
              </a:rPr>
              <a:t>-Ionis-STM, Paris</a:t>
            </a:r>
          </a:p>
          <a:p>
            <a:pPr marL="226695"/>
            <a:r>
              <a:rPr lang="en-US" dirty="0" err="1">
                <a:latin typeface="Graphik"/>
              </a:rPr>
              <a:t>Mastère</a:t>
            </a:r>
            <a:r>
              <a:rPr lang="en-US" dirty="0">
                <a:latin typeface="Graphik"/>
              </a:rPr>
              <a:t> </a:t>
            </a:r>
            <a:r>
              <a:rPr lang="en-US" dirty="0" err="1">
                <a:latin typeface="Graphik"/>
              </a:rPr>
              <a:t>professionnel</a:t>
            </a:r>
            <a:r>
              <a:rPr lang="en-US" dirty="0">
                <a:latin typeface="Graphik"/>
              </a:rPr>
              <a:t> </a:t>
            </a:r>
            <a:r>
              <a:rPr lang="en-US" dirty="0" err="1">
                <a:latin typeface="Graphik"/>
              </a:rPr>
              <a:t>en</a:t>
            </a:r>
            <a:r>
              <a:rPr lang="en-US" dirty="0">
                <a:latin typeface="Graphik"/>
              </a:rPr>
              <a:t> Assurance et </a:t>
            </a:r>
            <a:r>
              <a:rPr lang="en-US" dirty="0" err="1">
                <a:latin typeface="Graphik"/>
              </a:rPr>
              <a:t>Actuariat</a:t>
            </a:r>
            <a:r>
              <a:rPr lang="en-US" dirty="0">
                <a:latin typeface="Graphik"/>
              </a:rPr>
              <a:t>, </a:t>
            </a:r>
            <a:r>
              <a:rPr lang="en-US" dirty="0" err="1">
                <a:latin typeface="Graphik"/>
              </a:rPr>
              <a:t>Institut</a:t>
            </a:r>
            <a:r>
              <a:rPr lang="en-US" dirty="0">
                <a:latin typeface="Graphik"/>
              </a:rPr>
              <a:t> supérieur de gestion de Tunis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32098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YXZe9Nlzz_Y60IwjdIJ2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E6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Custom 2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>
        <a:spAutoFit/>
      </a:bodyPr>
      <a:lstStyle>
        <a:defPPr marL="0" algn="l">
          <a:defRPr dirty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</a:custClrLst>
  <a:extLst>
    <a:ext uri="{05A4C25C-085E-4340-85A3-A5531E510DB2}">
      <thm15:themeFamily xmlns:thm15="http://schemas.microsoft.com/office/thememl/2012/main" name="210039_AS Toolkit 16x9" id="{F507CB6C-8D71-45C2-8E98-5CC4A63C1C0C}" vid="{5D22664C-F3ED-42D9-B06B-6F9F163746D6}"/>
    </a:ext>
  </a:extLst>
</a:theme>
</file>

<file path=ppt/theme/theme2.xml><?xml version="1.0" encoding="utf-8"?>
<a:theme xmlns:a="http://schemas.openxmlformats.org/drawingml/2006/main" name="1_Content Layouts">
  <a:themeElements>
    <a:clrScheme name="CONSULTING">
      <a:dk1>
        <a:srgbClr val="000000"/>
      </a:dk1>
      <a:lt1>
        <a:srgbClr val="FFFFFF"/>
      </a:lt1>
      <a:dk2>
        <a:srgbClr val="BEBEBE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BEBEBE"/>
      </a:accent4>
      <a:accent5>
        <a:srgbClr val="969696"/>
      </a:accent5>
      <a:accent6>
        <a:srgbClr val="5A5A5A"/>
      </a:accent6>
      <a:hlink>
        <a:srgbClr val="A100FF"/>
      </a:hlink>
      <a:folHlink>
        <a:srgbClr val="460073"/>
      </a:folHlink>
    </a:clrScheme>
    <a:fontScheme name="Accenture Proposals">
      <a:majorFont>
        <a:latin typeface="Graphik Blac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Acc_Master_Arial_2017 v1" id="{BFFC7005-D7BE-40E3-83B0-367A400EF32B}" vid="{9EDCCE36-7FD1-489E-AC77-A235F91A626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4ad9ff9-8ac1-4b49-a800-7eae325a6615">
      <Terms xmlns="http://schemas.microsoft.com/office/infopath/2007/PartnerControls"/>
    </lcf76f155ced4ddcb4097134ff3c332f>
    <TaxCatchAll xmlns="d1b458f1-1a06-4c19-af96-5a16451cac0b" xsi:nil="true"/>
    <SharedWithUsers xmlns="d1b458f1-1a06-4c19-af96-5a16451cac0b">
      <UserInfo>
        <DisplayName>Grelier, Jerome</DisplayName>
        <AccountId>13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66FA772C433646BF5FF3DF5DE542D4" ma:contentTypeVersion="17" ma:contentTypeDescription="Create a new document." ma:contentTypeScope="" ma:versionID="e7872c4886f939f9e8880d2750c16470">
  <xsd:schema xmlns:xsd="http://www.w3.org/2001/XMLSchema" xmlns:xs="http://www.w3.org/2001/XMLSchema" xmlns:p="http://schemas.microsoft.com/office/2006/metadata/properties" xmlns:ns2="54ad9ff9-8ac1-4b49-a800-7eae325a6615" xmlns:ns3="d1b458f1-1a06-4c19-af96-5a16451cac0b" targetNamespace="http://schemas.microsoft.com/office/2006/metadata/properties" ma:root="true" ma:fieldsID="a190762e2318666dc830bc888a2754fe" ns2:_="" ns3:_="">
    <xsd:import namespace="54ad9ff9-8ac1-4b49-a800-7eae325a6615"/>
    <xsd:import namespace="d1b458f1-1a06-4c19-af96-5a16451cac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ad9ff9-8ac1-4b49-a800-7eae325a66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b458f1-1a06-4c19-af96-5a16451cac0b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7c1cc3c-ec3e-4260-bdfe-6355362f6370}" ma:internalName="TaxCatchAll" ma:showField="CatchAllData" ma:web="d1b458f1-1a06-4c19-af96-5a16451cac0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971A2AF-4E8D-438F-BC21-F41A33244BCD}">
  <ds:schemaRefs>
    <ds:schemaRef ds:uri="http://schemas.microsoft.com/office/2006/documentManagement/types"/>
    <ds:schemaRef ds:uri="http://purl.org/dc/elements/1.1/"/>
    <ds:schemaRef ds:uri="d1b458f1-1a06-4c19-af96-5a16451cac0b"/>
    <ds:schemaRef ds:uri="http://purl.org/dc/terms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54ad9ff9-8ac1-4b49-a800-7eae325a6615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6F9EFB1-EC38-4E75-B5E4-CF35335CF5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4ad9ff9-8ac1-4b49-a800-7eae325a6615"/>
    <ds:schemaRef ds:uri="d1b458f1-1a06-4c19-af96-5a16451cac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55D0782-5696-4464-A181-51EA7F81735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480</Words>
  <Application>Microsoft Office PowerPoint</Application>
  <PresentationFormat>Widescreen</PresentationFormat>
  <Paragraphs>60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Calibri</vt:lpstr>
      <vt:lpstr>Graphik</vt:lpstr>
      <vt:lpstr>Graphik Black</vt:lpstr>
      <vt:lpstr>Graphik Semibold</vt:lpstr>
      <vt:lpstr>Segoe UI</vt:lpstr>
      <vt:lpstr>1_Office Theme</vt:lpstr>
      <vt:lpstr>1_Content Layouts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Lecoffre, Morgane</dc:creator>
  <cp:lastModifiedBy>Ben Khedher, Ibtihel</cp:lastModifiedBy>
  <cp:revision>112</cp:revision>
  <dcterms:created xsi:type="dcterms:W3CDTF">2022-09-05T08:33:58Z</dcterms:created>
  <dcterms:modified xsi:type="dcterms:W3CDTF">2026-04-14T12:58:55Z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0x0101001C66FA772C433646BF5FF3DF5DE542D4</vt:lpwstr>
  </property>
  <property fmtid="{D5CDD505-2E9C-101B-9397-08002B2CF9AE}" pid="3" name="MediaServiceImageTags">
    <vt:lpwstr/>
  </property>
  <property fmtid="{D5CDD505-2E9C-101B-9397-08002B2CF9AE}" pid="4" name="_ExtendedDescription">
    <vt:lpwstr/>
  </property>
  <property fmtid="{D5CDD505-2E9C-101B-9397-08002B2CF9AE}" pid="5" name="Order">
    <vt:r8>42600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TriggerFlowInfo">
    <vt:lpwstr/>
  </property>
</Properties>
</file>